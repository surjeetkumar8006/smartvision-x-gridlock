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261104" y="1600200"/>
            <a:ext cx="3657600" cy="3657600"/>
          </a:xfrm>
          <a:prstGeom prst="ellipse">
            <a:avLst/>
          </a:prstGeom>
          <a:solidFill>
            <a:srgbClr val="0A1224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718304" y="2057400"/>
            <a:ext cx="2743200" cy="2743200"/>
          </a:xfrm>
          <a:prstGeom prst="ellipse">
            <a:avLst/>
          </a:prstGeom>
          <a:solidFill>
            <a:srgbClr val="0F1B35"/>
          </a:solidFill>
          <a:ln w="12700">
            <a:solidFill>
              <a:srgbClr val="2A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F0FF"/>
                </a:solidFill>
                <a:latin typeface="Arial"/>
              </a:rPr>
              <a:t>FLIPKART GRIDLOCK HACKATHON 2.0  //  THEME 3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>
                <a:solidFill>
                  <a:srgbClr val="F5F9FC"/>
                </a:solidFill>
                <a:latin typeface="Arial"/>
              </a:rPr>
              <a:t>SMARTVISION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A82E6"/>
                </a:solidFill>
                <a:latin typeface="Arial"/>
              </a:rPr>
              <a:t>Autonomous AI-Powered Traffic Enforcement &amp; Safety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7904" y="4389120"/>
            <a:ext cx="9144000" cy="164592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480560"/>
            <a:ext cx="8531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PROJECT OVERVIEW</a:t>
            </a:r>
          </a:p>
          <a:p>
            <a:r>
              <a:rPr sz="1600" b="1">
                <a:solidFill>
                  <a:srgbClr val="F5F9FC"/>
                </a:solidFill>
                <a:latin typeface="Arial"/>
              </a:rPr>
              <a:t>Presented by: Surjeet Yadav</a:t>
            </a:r>
          </a:p>
          <a:p>
            <a:r>
              <a:rPr sz="1200" b="1">
                <a:solidFill>
                  <a:srgbClr val="05D782"/>
                </a:solidFill>
                <a:latin typeface="Calibri"/>
              </a:rPr>
              <a:t>Live Demo: smartvision-x-gridlock-c579.vercel.app</a:t>
            </a:r>
          </a:p>
          <a:p>
            <a:r>
              <a:rPr sz="1200" b="0">
                <a:solidFill>
                  <a:srgbClr val="8A9BB4"/>
                </a:solidFill>
                <a:latin typeface="Calibri"/>
              </a:rPr>
              <a:t>Architecture: React / Vite + Express MVC + YOLOv8 + MongoDB Atlas 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F0FF"/>
                </a:solidFill>
                <a:latin typeface="Arial"/>
              </a:rPr>
              <a:t>SMARTVISION X  // 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9FC"/>
                </a:solidFill>
                <a:latin typeface="Arial"/>
              </a:rPr>
              <a:t>Our Vision &amp; 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18288"/>
          </a:xfrm>
          <a:prstGeom prst="rect">
            <a:avLst/>
          </a:prstGeom>
          <a:solidFill>
            <a:srgbClr val="1A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645920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Arial"/>
              </a:rPr>
              <a:t>LIVE PLATFORM DEMO: smartvision-x-gridlock-c579.vercel.app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5029200" cy="3840480"/>
          </a:xfrm>
          <a:prstGeom prst="rect">
            <a:avLst/>
          </a:prstGeom>
          <a:solidFill>
            <a:srgbClr val="0E1626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5029200" cy="54864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F0FF"/>
                </a:solidFill>
                <a:latin typeface="Arial"/>
              </a:rPr>
              <a:t>THE VISION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F5F9FC"/>
                </a:solidFill>
                <a:latin typeface="Calibri"/>
              </a:rPr>
              <a:t>To construct a fully autonomous urban mobility nervous system that eliminates human delays in traffic enforcement, instantly detects life-threatening safety violations, and secures Indian roads using real-time Edge Artificial Intelligence.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5029200" cy="3840480"/>
          </a:xfrm>
          <a:prstGeom prst="rect">
            <a:avLst/>
          </a:prstGeom>
          <a:solidFill>
            <a:srgbClr val="0E1626"/>
          </a:solidFill>
          <a:ln w="19050">
            <a:solidFill>
              <a:srgbClr val="2A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5029200" cy="54864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05740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A82E6"/>
                </a:solidFill>
                <a:latin typeface="Arial"/>
              </a:rPr>
              <a:t>THE MISSION</a:t>
            </a:r>
          </a:p>
          <a:p>
            <a:pPr>
              <a:lnSpc>
                <a:spcPct val="120000"/>
              </a:lnSpc>
            </a:pPr>
            <a:r>
              <a:rPr sz="1400" b="0">
                <a:solidFill>
                  <a:srgbClr val="F5F9FC"/>
                </a:solidFill>
                <a:latin typeface="Calibri"/>
              </a:rPr>
              <a:t>Deploy an end-to-end MERN stack + Python CV application that processes live CCTV streams to:</a:t>
            </a:r>
          </a:p>
          <a:p>
            <a:r>
              <a:rPr sz="1350" b="0">
                <a:solidFill>
                  <a:srgbClr val="8A9BB4"/>
                </a:solidFill>
                <a:latin typeface="Calibri"/>
              </a:rPr>
              <a:t>• Detect Helmetless Riders &amp; Triple Riding</a:t>
            </a:r>
          </a:p>
          <a:p>
            <a:r>
              <a:rPr sz="1350" b="0">
                <a:solidFill>
                  <a:srgbClr val="8A9BB4"/>
                </a:solidFill>
                <a:latin typeface="Calibri"/>
              </a:rPr>
              <a:t>• Identify Sidewalk/Illegal Parking Blockages</a:t>
            </a:r>
          </a:p>
          <a:p>
            <a:r>
              <a:rPr sz="1350" b="0">
                <a:solidFill>
                  <a:srgbClr val="8A9BB4"/>
                </a:solidFill>
                <a:latin typeface="Calibri"/>
              </a:rPr>
              <a:t>• Auto-generate legal evidence &amp; PDF Challans</a:t>
            </a:r>
          </a:p>
          <a:p>
            <a:r>
              <a:rPr sz="1350" b="0">
                <a:solidFill>
                  <a:srgbClr val="8A9BB4"/>
                </a:solidFill>
                <a:latin typeface="Calibri"/>
              </a:rPr>
              <a:t>• Dispatch patrol officers based on GPS proximity.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F0FF"/>
                </a:solidFill>
                <a:latin typeface="Arial"/>
              </a:rPr>
              <a:t>SMARTVISION X  //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9FC"/>
                </a:solidFill>
                <a:latin typeface="Arial"/>
              </a:rPr>
              <a:t>The Urban Traffic Crisis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18288"/>
          </a:xfrm>
          <a:prstGeom prst="rect">
            <a:avLst/>
          </a:prstGeom>
          <a:solidFill>
            <a:srgbClr val="1A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645920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Arial"/>
              </a:rPr>
              <a:t>LIVE PLATFORM DEMO: smartvision-x-gridlock-c579.vercel.app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3383280" cy="3840480"/>
          </a:xfrm>
          <a:prstGeom prst="rect">
            <a:avLst/>
          </a:prstGeom>
          <a:solidFill>
            <a:srgbClr val="0E1626"/>
          </a:solidFill>
          <a:ln w="19050">
            <a:solidFill>
              <a:srgbClr val="FF2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3383280" cy="91440"/>
          </a:xfrm>
          <a:prstGeom prst="rect">
            <a:avLst/>
          </a:prstGeom>
          <a:solidFill>
            <a:srgbClr val="FF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A9BB4"/>
                </a:solidFill>
                <a:latin typeface="Calibri"/>
              </a:rPr>
              <a:t>METRIC 01</a:t>
            </a:r>
          </a:p>
          <a:p>
            <a:r>
              <a:rPr sz="2400" b="1">
                <a:solidFill>
                  <a:srgbClr val="FF2A5F"/>
                </a:solidFill>
                <a:latin typeface="Calibri"/>
              </a:rPr>
              <a:t>60% Fatalities</a:t>
            </a:r>
          </a:p>
          <a:p>
            <a:r>
              <a:rPr sz="1500" b="1">
                <a:solidFill>
                  <a:srgbClr val="F5F9FC"/>
                </a:solidFill>
                <a:latin typeface="Calibri"/>
              </a:rPr>
              <a:t>Critical Safety Violations</a:t>
            </a:r>
          </a:p>
          <a:p>
            <a:pPr>
              <a:lnSpc>
                <a:spcPct val="120000"/>
              </a:lnSpc>
            </a:pPr>
            <a:r>
              <a:rPr sz="1250" b="0">
                <a:solidFill>
                  <a:srgbClr val="8A9BB4"/>
                </a:solidFill>
                <a:latin typeface="Calibri"/>
              </a:rPr>
              <a:t>Riders ignoring helmet mandates and practicing dangerous triple-riding habits cause 60%+ of two-wheeler road casualties.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011680"/>
            <a:ext cx="3383280" cy="3840480"/>
          </a:xfrm>
          <a:prstGeom prst="rect">
            <a:avLst/>
          </a:prstGeom>
          <a:solidFill>
            <a:srgbClr val="0E1626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011680"/>
            <a:ext cx="3383280" cy="914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A9BB4"/>
                </a:solidFill>
                <a:latin typeface="Calibri"/>
              </a:rPr>
              <a:t>METRIC 02</a:t>
            </a:r>
          </a:p>
          <a:p>
            <a:r>
              <a:rPr sz="2400" b="1">
                <a:solidFill>
                  <a:srgbClr val="FF9F1C"/>
                </a:solidFill>
                <a:latin typeface="Calibri"/>
              </a:rPr>
              <a:t>Severe Congestion</a:t>
            </a:r>
          </a:p>
          <a:p>
            <a:r>
              <a:rPr sz="1500" b="1">
                <a:solidFill>
                  <a:srgbClr val="F5F9FC"/>
                </a:solidFill>
                <a:latin typeface="Calibri"/>
              </a:rPr>
              <a:t>Junction Bottlenecks</a:t>
            </a:r>
          </a:p>
          <a:p>
            <a:pPr>
              <a:lnSpc>
                <a:spcPct val="120000"/>
              </a:lnSpc>
            </a:pPr>
            <a:r>
              <a:rPr sz="1250" b="0">
                <a:solidFill>
                  <a:srgbClr val="8A9BB4"/>
                </a:solidFill>
                <a:latin typeface="Calibri"/>
              </a:rPr>
              <a:t>Illegal parking on major urban arterial roads blocks sidewalks and creates severe choke points (e.g., Silk Board Jn).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011680"/>
            <a:ext cx="3383280" cy="3840480"/>
          </a:xfrm>
          <a:prstGeom prst="rect">
            <a:avLst/>
          </a:prstGeom>
          <a:solidFill>
            <a:srgbClr val="0E1626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011680"/>
            <a:ext cx="3383280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A9BB4"/>
                </a:solidFill>
                <a:latin typeface="Calibri"/>
              </a:rPr>
              <a:t>METRIC 03</a:t>
            </a:r>
          </a:p>
          <a:p>
            <a:r>
              <a:rPr sz="2400" b="1">
                <a:solidFill>
                  <a:srgbClr val="00F0FF"/>
                </a:solidFill>
                <a:latin typeface="Calibri"/>
              </a:rPr>
              <a:t>80% Missed Tickets</a:t>
            </a:r>
          </a:p>
          <a:p>
            <a:r>
              <a:rPr sz="1500" b="1">
                <a:solidFill>
                  <a:srgbClr val="F5F9FC"/>
                </a:solidFill>
                <a:latin typeface="Calibri"/>
              </a:rPr>
              <a:t>Enforcement Leakage</a:t>
            </a:r>
          </a:p>
          <a:p>
            <a:pPr>
              <a:lnSpc>
                <a:spcPct val="120000"/>
              </a:lnSpc>
            </a:pPr>
            <a:r>
              <a:rPr sz="1250" b="0">
                <a:solidFill>
                  <a:srgbClr val="8A9BB4"/>
                </a:solidFill>
                <a:latin typeface="Calibri"/>
              </a:rPr>
              <a:t>Manual operators miss over 80% of transient parking and helmet violations due to sheer feed volume and visual fatigue.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F0FF"/>
                </a:solidFill>
                <a:latin typeface="Arial"/>
              </a:rPr>
              <a:t>SMARTVISION X  //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9FC"/>
                </a:solidFill>
                <a:latin typeface="Arial"/>
              </a:rPr>
              <a:t>Limitations of Manual Enforcement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18288"/>
          </a:xfrm>
          <a:prstGeom prst="rect">
            <a:avLst/>
          </a:prstGeom>
          <a:solidFill>
            <a:srgbClr val="1A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645920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Arial"/>
              </a:rPr>
              <a:t>LIVE PLATFORM DEMO: smartvision-x-gridlock-c579.vercel.app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5F9FC"/>
                </a:solidFill>
                <a:latin typeface="Calibri"/>
              </a:rPr>
              <a:t>Traditional traffic policing methods cannot scale with mega-city volumes due to: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137160" cy="822960"/>
          </a:xfrm>
          <a:prstGeom prst="rect">
            <a:avLst/>
          </a:prstGeom>
          <a:solidFill>
            <a:srgbClr val="FF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377440"/>
            <a:ext cx="10588752" cy="82296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2A5F"/>
                </a:solidFill>
                <a:latin typeface="Arial"/>
              </a:rPr>
              <a:t>HUMAN VISUAL FATIGUE   |   </a:t>
            </a:r>
            <a:r>
              <a:rPr sz="1300" b="0">
                <a:solidFill>
                  <a:srgbClr val="F5F9FC"/>
                </a:solidFill>
                <a:latin typeface="Calibri"/>
              </a:rPr>
              <a:t>Impossible for control room officers to monitor hundreds of CCTV streams concurrently 24×7 without missing violations.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37560"/>
            <a:ext cx="137160" cy="822960"/>
          </a:xfrm>
          <a:prstGeom prst="rect">
            <a:avLst/>
          </a:prstGeom>
          <a:solidFill>
            <a:srgbClr val="FF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337560"/>
            <a:ext cx="10588752" cy="82296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4290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2A5F"/>
                </a:solidFill>
                <a:latin typeface="Arial"/>
              </a:rPr>
              <a:t>HIGH PROCESSING LATENCY   |   </a:t>
            </a:r>
            <a:r>
              <a:rPr sz="1300" b="0">
                <a:solidFill>
                  <a:srgbClr val="F5F9FC"/>
                </a:solidFill>
                <a:latin typeface="Calibri"/>
              </a:rPr>
              <a:t>Manual e-challans take days to process and dispatch, losing the psychological impact of immediate traffic fine warnings.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97680"/>
            <a:ext cx="137160" cy="822960"/>
          </a:xfrm>
          <a:prstGeom prst="rect">
            <a:avLst/>
          </a:prstGeom>
          <a:solidFill>
            <a:srgbClr val="FF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4297680"/>
            <a:ext cx="10588752" cy="82296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8912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2A5F"/>
                </a:solidFill>
                <a:latin typeface="Arial"/>
              </a:rPr>
              <a:t>OFF-LINE DISPATCH LOOP   |   </a:t>
            </a:r>
            <a:r>
              <a:rPr sz="1300" b="0">
                <a:solidFill>
                  <a:srgbClr val="F5F9FC"/>
                </a:solidFill>
                <a:latin typeface="Calibri"/>
              </a:rPr>
              <a:t>No active connection between cameras flagging violations and nearby patrol cars, leaving field units unrouted.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57800"/>
            <a:ext cx="137160" cy="822960"/>
          </a:xfrm>
          <a:prstGeom prst="rect">
            <a:avLst/>
          </a:prstGeom>
          <a:solidFill>
            <a:srgbClr val="FF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5257800"/>
            <a:ext cx="10588752" cy="82296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34924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2A5F"/>
                </a:solidFill>
                <a:latin typeface="Arial"/>
              </a:rPr>
              <a:t>DISCONNECTED REPEAT HISTORIES   |   </a:t>
            </a:r>
            <a:r>
              <a:rPr sz="1300" b="0">
                <a:solidFill>
                  <a:srgbClr val="F5F9FC"/>
                </a:solidFill>
                <a:latin typeface="Calibri"/>
              </a:rPr>
              <a:t>No system queries registration numbers against history to identify high-risk drivers in real-time.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F0FF"/>
                </a:solidFill>
                <a:latin typeface="Arial"/>
              </a:rPr>
              <a:t>SMARTVISION X  // 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9FC"/>
                </a:solidFill>
                <a:latin typeface="Arial"/>
              </a:rPr>
              <a:t>Introducing SmartVision 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18288"/>
          </a:xfrm>
          <a:prstGeom prst="rect">
            <a:avLst/>
          </a:prstGeom>
          <a:solidFill>
            <a:srgbClr val="1A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645920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Arial"/>
              </a:rPr>
              <a:t>LIVE PLATFORM DEMO: smartvision-x-gridlock-c579.vercel.app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10725912" cy="1188720"/>
          </a:xfrm>
          <a:prstGeom prst="rect">
            <a:avLst/>
          </a:prstGeom>
          <a:solidFill>
            <a:srgbClr val="0D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F0FF"/>
                </a:solidFill>
                <a:latin typeface="Arial"/>
              </a:rPr>
              <a:t>The Ultimate AI-Powered Traffic Nervous System</a:t>
            </a:r>
          </a:p>
          <a:p>
            <a:pPr algn="ctr"/>
            <a:r>
              <a:rPr sz="1400" b="0">
                <a:solidFill>
                  <a:srgbClr val="F5F9FC"/>
                </a:solidFill>
                <a:latin typeface="Calibri"/>
              </a:rPr>
              <a:t>An end-to-end platform that captures street streams, detects violations using custom-quantised YOLOv8 models, reads license plates with OCR, and dispatches responders via a real-time web portal.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2560320" cy="237744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F0FF"/>
                </a:solidFill>
                <a:latin typeface="Calibri"/>
              </a:rPr>
              <a:t>01</a:t>
            </a:r>
          </a:p>
          <a:p>
            <a:r>
              <a:rPr sz="1200" b="1">
                <a:solidFill>
                  <a:srgbClr val="F5F9FC"/>
                </a:solidFill>
                <a:latin typeface="Calibri"/>
              </a:rPr>
              <a:t>CCTV CAPTURE</a:t>
            </a:r>
          </a:p>
          <a:p>
            <a:pPr>
              <a:lnSpc>
                <a:spcPct val="110000"/>
              </a:lnSpc>
            </a:pPr>
            <a:r>
              <a:rPr sz="1100" b="0">
                <a:solidFill>
                  <a:srgbClr val="8A9BB4"/>
                </a:solidFill>
                <a:latin typeface="Calibri"/>
              </a:rPr>
              <a:t>RTSP video feeds from high-density junctions stream directly to edge servers.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4297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82E6"/>
                </a:solidFill>
                <a:latin typeface="Calibri"/>
              </a:rPr>
              <a:t>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3474720"/>
            <a:ext cx="2560320" cy="237744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56616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F0FF"/>
                </a:solidFill>
                <a:latin typeface="Calibri"/>
              </a:rPr>
              <a:t>02</a:t>
            </a:r>
          </a:p>
          <a:p>
            <a:r>
              <a:rPr sz="1200" b="1">
                <a:solidFill>
                  <a:srgbClr val="F5F9FC"/>
                </a:solidFill>
                <a:latin typeface="Calibri"/>
              </a:rPr>
              <a:t>EDGE AI INFERENCE</a:t>
            </a:r>
          </a:p>
          <a:p>
            <a:pPr>
              <a:lnSpc>
                <a:spcPct val="110000"/>
              </a:lnSpc>
            </a:pPr>
            <a:r>
              <a:rPr sz="1100" b="0">
                <a:solidFill>
                  <a:srgbClr val="8A9BB4"/>
                </a:solidFill>
                <a:latin typeface="Calibri"/>
              </a:rPr>
              <a:t>Optimised YOLOv8 instantly locates riders, cars, helmets, and plates.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297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82E6"/>
                </a:solidFill>
                <a:latin typeface="Calibri"/>
              </a:rPr>
              <a:t>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474720"/>
            <a:ext cx="2560320" cy="237744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56616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F0FF"/>
                </a:solidFill>
                <a:latin typeface="Calibri"/>
              </a:rPr>
              <a:t>03</a:t>
            </a:r>
          </a:p>
          <a:p>
            <a:r>
              <a:rPr sz="1200" b="1">
                <a:solidFill>
                  <a:srgbClr val="F5F9FC"/>
                </a:solidFill>
                <a:latin typeface="Calibri"/>
              </a:rPr>
              <a:t>PLATE OCR READ</a:t>
            </a:r>
          </a:p>
          <a:p>
            <a:pPr>
              <a:lnSpc>
                <a:spcPct val="110000"/>
              </a:lnSpc>
            </a:pPr>
            <a:r>
              <a:rPr sz="1100" b="0">
                <a:solidFill>
                  <a:srgbClr val="8A9BB4"/>
                </a:solidFill>
                <a:latin typeface="Calibri"/>
              </a:rPr>
              <a:t>EasyOCR extracts alphanumeric text from HSRP plates on violation frames.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4297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82E6"/>
                </a:solidFill>
                <a:latin typeface="Calibri"/>
              </a:rPr>
              <a:t>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3474720"/>
            <a:ext cx="2560320" cy="237744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356616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F0FF"/>
                </a:solidFill>
                <a:latin typeface="Calibri"/>
              </a:rPr>
              <a:t>04</a:t>
            </a:r>
          </a:p>
          <a:p>
            <a:r>
              <a:rPr sz="1200" b="1">
                <a:solidFill>
                  <a:srgbClr val="F5F9FC"/>
                </a:solidFill>
                <a:latin typeface="Calibri"/>
              </a:rPr>
              <a:t>CLOUD ENFORCEMENT</a:t>
            </a:r>
          </a:p>
          <a:p>
            <a:pPr>
              <a:lnSpc>
                <a:spcPct val="110000"/>
              </a:lnSpc>
            </a:pPr>
            <a:r>
              <a:rPr sz="1100" b="0">
                <a:solidFill>
                  <a:srgbClr val="8A9BB4"/>
                </a:solidFill>
                <a:latin typeface="Calibri"/>
              </a:rPr>
              <a:t>MongoDB Atlas stores record. Dispatch triggers closest patrol car.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F0FF"/>
                </a:solidFill>
                <a:latin typeface="Arial"/>
              </a:rPr>
              <a:t>SMARTVISION X  //  PLATFORM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9FC"/>
                </a:solidFill>
                <a:latin typeface="Arial"/>
              </a:rPr>
              <a:t>Key Modules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18288"/>
          </a:xfrm>
          <a:prstGeom prst="rect">
            <a:avLst/>
          </a:prstGeom>
          <a:solidFill>
            <a:srgbClr val="1A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645920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Arial"/>
              </a:rPr>
              <a:t>LIVE PLATFORM DEMO: smartvision-x-gridlock-c579.vercel.app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383280" cy="182880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3383280" cy="36576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F0FF"/>
                </a:solidFill>
                <a:latin typeface="Arial"/>
              </a:rPr>
              <a:t>Live Violation Detection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F5F9FC"/>
                </a:solidFill>
                <a:latin typeface="Calibri"/>
              </a:rPr>
              <a:t>Real-time camera feed analysis with bounding boxes for motorcycles, riders, helmet status, and illegal parking.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920240"/>
            <a:ext cx="3383280" cy="182880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383280" cy="36576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965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F0FF"/>
                </a:solidFill>
                <a:latin typeface="Arial"/>
              </a:rPr>
              <a:t>Automated Evidence Center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F5F9FC"/>
                </a:solidFill>
                <a:latin typeface="Calibri"/>
              </a:rPr>
              <a:t>Frictionless dashboard showing violation snapshots, confidence rates, plate crops, and PDF download buttons.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920240"/>
            <a:ext cx="3383280" cy="182880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920240"/>
            <a:ext cx="3383280" cy="36576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965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F0FF"/>
                </a:solidFill>
                <a:latin typeface="Arial"/>
              </a:rPr>
              <a:t>Smart Patrol Dispatcher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F5F9FC"/>
                </a:solidFill>
                <a:latin typeface="Calibri"/>
              </a:rPr>
              <a:t>GPS-tracked patrol dispatches. Calculates nearest active responder using coordinates and dispatches with route details.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3383280" cy="182880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3383280" cy="36576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F0FF"/>
                </a:solidFill>
                <a:latin typeface="Arial"/>
              </a:rPr>
              <a:t>Offenders Database (Risk)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F5F9FC"/>
                </a:solidFill>
                <a:latin typeface="Calibri"/>
              </a:rPr>
              <a:t>Alphanumeric query interface retrieving history records from VAHAN database simulator to calculate recidivism risk scores.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4023360"/>
            <a:ext cx="3383280" cy="182880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4023360"/>
            <a:ext cx="3383280" cy="36576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0690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F0FF"/>
                </a:solidFill>
                <a:latin typeface="Arial"/>
              </a:rPr>
              <a:t>AI Configuration Console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F5F9FC"/>
                </a:solidFill>
                <a:latin typeface="Calibri"/>
              </a:rPr>
              <a:t>Interactive threshold tuners allowing operators to live-adjust YOLOv8 confidence rates, OCR sensitivity, and IR exposure.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4023360"/>
            <a:ext cx="3383280" cy="182880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3840" y="4023360"/>
            <a:ext cx="3383280" cy="36576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40690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F0FF"/>
                </a:solidFill>
                <a:latin typeface="Arial"/>
              </a:rPr>
              <a:t>Emergency Override Module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F5F9FC"/>
                </a:solidFill>
                <a:latin typeface="Calibri"/>
              </a:rPr>
              <a:t>VIP Corridor simulator which triggers green lights sequentially across junctions to ensure gridlock clearance.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F0FF"/>
                </a:solidFill>
                <a:latin typeface="Arial"/>
              </a:rPr>
              <a:t>SMARTVISION X  //  TECHNOLOGY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9FC"/>
                </a:solidFill>
                <a:latin typeface="Arial"/>
              </a:rPr>
              <a:t>AI Vision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18288"/>
          </a:xfrm>
          <a:prstGeom prst="rect">
            <a:avLst/>
          </a:prstGeom>
          <a:solidFill>
            <a:srgbClr val="1A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645920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Arial"/>
              </a:rPr>
              <a:t>LIVE PLATFORM DEMO: smartvision-x-gridlock-c579.vercel.app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9BB4"/>
                </a:solidFill>
                <a:latin typeface="Calibri"/>
              </a:rPr>
              <a:t>How raw CCTV camera feeds are processed into legally binding traffic citations in milliseconds: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1965960" cy="3474720"/>
          </a:xfrm>
          <a:prstGeom prst="rect">
            <a:avLst/>
          </a:prstGeom>
          <a:solidFill>
            <a:srgbClr val="0E1626"/>
          </a:solidFill>
          <a:ln w="19050">
            <a:solidFill>
              <a:srgbClr val="2A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560320"/>
            <a:ext cx="1691640" cy="457200"/>
          </a:xfrm>
          <a:prstGeom prst="roundRect">
            <a:avLst/>
          </a:prstGeom>
          <a:solidFill>
            <a:srgbClr val="2A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1783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CCTV CAPTURE</a:t>
            </a:r>
          </a:p>
          <a:p>
            <a:pPr algn="ctr"/>
            <a:r>
              <a:rPr sz="1100" b="1">
                <a:solidFill>
                  <a:srgbClr val="F5F9FC"/>
                </a:solidFill>
                <a:latin typeface="Calibri"/>
              </a:rPr>
              <a:t>RTSP Stream</a:t>
            </a:r>
          </a:p>
          <a:p>
            <a:pPr algn="ctr"/>
            <a:r>
              <a:rPr sz="800" b="0">
                <a:solidFill>
                  <a:srgbClr val="1A2C46"/>
                </a:solidFill>
                <a:latin typeface="Calibri"/>
              </a:rPr>
              <a:t>---------------------</a:t>
            </a:r>
          </a:p>
          <a:p>
            <a:pPr>
              <a:lnSpc>
                <a:spcPct val="110000"/>
              </a:lnSpc>
            </a:pPr>
            <a:r>
              <a:rPr sz="1050" b="0">
                <a:solidFill>
                  <a:srgbClr val="8A9BB4"/>
                </a:solidFill>
                <a:latin typeface="Calibri"/>
              </a:rPr>
              <a:t>1080p stream at 30 FPS. Weather filters simulation (Rain/Night) adjust exposure.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74903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F0FF"/>
                </a:solidFill>
                <a:latin typeface="Calibri"/>
              </a:rPr>
              <a:t>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07791" y="2377440"/>
            <a:ext cx="1965960" cy="3474720"/>
          </a:xfrm>
          <a:prstGeom prst="rect">
            <a:avLst/>
          </a:prstGeom>
          <a:solidFill>
            <a:srgbClr val="0E1626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44951" y="2560320"/>
            <a:ext cx="1691640" cy="45720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9232" y="2606040"/>
            <a:ext cx="1783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YOLOv8 DETECT</a:t>
            </a:r>
          </a:p>
          <a:p>
            <a:pPr algn="ctr"/>
            <a:r>
              <a:rPr sz="1100" b="1">
                <a:solidFill>
                  <a:srgbClr val="F5F9FC"/>
                </a:solidFill>
                <a:latin typeface="Calibri"/>
              </a:rPr>
              <a:t>YOLOv8-nano</a:t>
            </a:r>
          </a:p>
          <a:p>
            <a:pPr algn="ctr"/>
            <a:r>
              <a:rPr sz="800" b="0">
                <a:solidFill>
                  <a:srgbClr val="1A2C46"/>
                </a:solidFill>
                <a:latin typeface="Calibri"/>
              </a:rPr>
              <a:t>---------------------</a:t>
            </a:r>
          </a:p>
          <a:p>
            <a:pPr>
              <a:lnSpc>
                <a:spcPct val="110000"/>
              </a:lnSpc>
            </a:pPr>
            <a:r>
              <a:rPr sz="1050" b="0">
                <a:solidFill>
                  <a:srgbClr val="8A9BB4"/>
                </a:solidFill>
                <a:latin typeface="Calibri"/>
              </a:rPr>
              <a:t>Localises class boxes: car, motorcycle, rider, helmet, plate.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374903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F0FF"/>
                </a:solidFill>
                <a:latin typeface="Calibri"/>
              </a:rP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4064" y="2377440"/>
            <a:ext cx="1965960" cy="3474720"/>
          </a:xfrm>
          <a:prstGeom prst="rect">
            <a:avLst/>
          </a:prstGeom>
          <a:solidFill>
            <a:srgbClr val="0E1626"/>
          </a:solidFill>
          <a:ln w="19050">
            <a:solidFill>
              <a:srgbClr val="8A5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21224" y="2560320"/>
            <a:ext cx="1691640" cy="457200"/>
          </a:xfrm>
          <a:prstGeom prst="roundRect">
            <a:avLst/>
          </a:prstGeom>
          <a:solidFill>
            <a:srgbClr val="8A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3" y="2606040"/>
            <a:ext cx="1783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EASYOCR ENGINE</a:t>
            </a:r>
          </a:p>
          <a:p>
            <a:pPr algn="ctr"/>
            <a:r>
              <a:rPr sz="1100" b="1">
                <a:solidFill>
                  <a:srgbClr val="F5F9FC"/>
                </a:solidFill>
                <a:latin typeface="Calibri"/>
              </a:rPr>
              <a:t>CRNN OCR</a:t>
            </a:r>
          </a:p>
          <a:p>
            <a:pPr algn="ctr"/>
            <a:r>
              <a:rPr sz="800" b="0">
                <a:solidFill>
                  <a:srgbClr val="1A2C46"/>
                </a:solidFill>
                <a:latin typeface="Calibri"/>
              </a:rPr>
              <a:t>---------------------</a:t>
            </a:r>
          </a:p>
          <a:p>
            <a:pPr>
              <a:lnSpc>
                <a:spcPct val="110000"/>
              </a:lnSpc>
            </a:pPr>
            <a:r>
              <a:rPr sz="1050" b="0">
                <a:solidFill>
                  <a:srgbClr val="8A9BB4"/>
                </a:solidFill>
                <a:latin typeface="Calibri"/>
              </a:rPr>
              <a:t>Processes cropped plate image. Applies perspective warp and Otsu thresholding.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374903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F0FF"/>
                </a:solidFill>
                <a:latin typeface="Calibri"/>
              </a:rPr>
              <a:t>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377440"/>
            <a:ext cx="1965960" cy="3474720"/>
          </a:xfrm>
          <a:prstGeom prst="rect">
            <a:avLst/>
          </a:prstGeom>
          <a:solidFill>
            <a:srgbClr val="0E1626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97496" y="2560320"/>
            <a:ext cx="1691640" cy="457200"/>
          </a:xfrm>
          <a:prstGeom prst="round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2606040"/>
            <a:ext cx="1783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DECISION RULES</a:t>
            </a:r>
          </a:p>
          <a:p>
            <a:pPr algn="ctr"/>
            <a:r>
              <a:rPr sz="1100" b="1">
                <a:solidFill>
                  <a:srgbClr val="F5F9FC"/>
                </a:solidFill>
                <a:latin typeface="Calibri"/>
              </a:rPr>
              <a:t>Rule Compiler</a:t>
            </a:r>
          </a:p>
          <a:p>
            <a:pPr algn="ctr"/>
            <a:r>
              <a:rPr sz="800" b="0">
                <a:solidFill>
                  <a:srgbClr val="1A2C46"/>
                </a:solidFill>
                <a:latin typeface="Calibri"/>
              </a:rPr>
              <a:t>---------------------</a:t>
            </a:r>
          </a:p>
          <a:p>
            <a:pPr>
              <a:lnSpc>
                <a:spcPct val="110000"/>
              </a:lnSpc>
            </a:pPr>
            <a:r>
              <a:rPr sz="1050" b="0">
                <a:solidFill>
                  <a:srgbClr val="8A9BB4"/>
                </a:solidFill>
                <a:latin typeface="Calibri"/>
              </a:rPr>
              <a:t>Triple riding check (&gt;2 rider boxes in vehicle box). No-helmet threshold logic.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374903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F0FF"/>
                </a:solidFill>
                <a:latin typeface="Calibri"/>
              </a:rPr>
              <a:t>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36608" y="2377440"/>
            <a:ext cx="1965960" cy="3474720"/>
          </a:xfrm>
          <a:prstGeom prst="rect">
            <a:avLst/>
          </a:prstGeom>
          <a:solidFill>
            <a:srgbClr val="0E1626"/>
          </a:solidFill>
          <a:ln w="19050">
            <a:solidFill>
              <a:srgbClr val="05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73768" y="2560320"/>
            <a:ext cx="1691640" cy="457200"/>
          </a:xfrm>
          <a:prstGeom prst="roundRect">
            <a:avLst/>
          </a:prstGeom>
          <a:solidFill>
            <a:srgbClr val="05D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28048" y="2606040"/>
            <a:ext cx="1783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REST ENGINE</a:t>
            </a:r>
          </a:p>
          <a:p>
            <a:pPr algn="ctr"/>
            <a:r>
              <a:rPr sz="1100" b="1">
                <a:solidFill>
                  <a:srgbClr val="F5F9FC"/>
                </a:solidFill>
                <a:latin typeface="Calibri"/>
              </a:rPr>
              <a:t>Express Controller</a:t>
            </a:r>
          </a:p>
          <a:p>
            <a:pPr algn="ctr"/>
            <a:r>
              <a:rPr sz="800" b="0">
                <a:solidFill>
                  <a:srgbClr val="1A2C46"/>
                </a:solidFill>
                <a:latin typeface="Calibri"/>
              </a:rPr>
              <a:t>---------------------</a:t>
            </a:r>
          </a:p>
          <a:p>
            <a:pPr>
              <a:lnSpc>
                <a:spcPct val="110000"/>
              </a:lnSpc>
            </a:pPr>
            <a:r>
              <a:rPr sz="1050" b="0">
                <a:solidFill>
                  <a:srgbClr val="8A9BB4"/>
                </a:solidFill>
                <a:latin typeface="Calibri"/>
              </a:rPr>
              <a:t>Persists violation to MongoDB. Auto-sends challan notice.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F0FF"/>
                </a:solidFill>
                <a:latin typeface="Arial"/>
              </a:rPr>
              <a:t>SMARTVISION X  //  LIVE DETECTION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9FC"/>
                </a:solidFill>
                <a:latin typeface="Arial"/>
              </a:rPr>
              <a:t>AI Vision Demo: Helmet Violation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18288"/>
          </a:xfrm>
          <a:prstGeom prst="rect">
            <a:avLst/>
          </a:prstGeom>
          <a:solidFill>
            <a:srgbClr val="1A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645920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Arial"/>
              </a:rPr>
              <a:t>LIVE PLATFORM DEMO: smartvision-x-gridlock-c579.vercel.app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4114800" cy="402336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4114800" cy="45720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3840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F0FF"/>
                </a:solidFill>
                <a:latin typeface="Arial"/>
              </a:rPr>
              <a:t>YOLOv8 + OCR PIPELINE IN ACTION</a:t>
            </a:r>
          </a:p>
          <a:p>
            <a:pPr>
              <a:lnSpc>
                <a:spcPct val="120000"/>
              </a:lnSpc>
            </a:pPr>
            <a:r>
              <a:rPr sz="1150" b="0">
                <a:solidFill>
                  <a:srgbClr val="F5F9FC"/>
                </a:solidFill>
                <a:latin typeface="Calibri"/>
              </a:rPr>
              <a:t>• Vehicle Bounding Box: YOLOv8 locates the motorcycle and crops the regional coordinates.</a:t>
            </a:r>
          </a:p>
          <a:p>
            <a:pPr>
              <a:lnSpc>
                <a:spcPct val="120000"/>
              </a:lnSpc>
            </a:pPr>
            <a:r>
              <a:rPr sz="1150" b="0">
                <a:solidFill>
                  <a:srgbClr val="F5F9FC"/>
                </a:solidFill>
                <a:latin typeface="Calibri"/>
              </a:rPr>
              <a:t>• Helmet Status Classifier: Specifically isolates the rider head box to run binary prediction (Helmet/No Helmet).</a:t>
            </a:r>
          </a:p>
          <a:p>
            <a:pPr>
              <a:lnSpc>
                <a:spcPct val="120000"/>
              </a:lnSpc>
            </a:pPr>
            <a:r>
              <a:rPr sz="1150" b="0">
                <a:solidFill>
                  <a:srgbClr val="F5F9FC"/>
                </a:solidFill>
                <a:latin typeface="Calibri"/>
              </a:rPr>
              <a:t>• Automatic Plate Localization: Identifies HSRP plate location and applies OCR perspective warping.</a:t>
            </a:r>
          </a:p>
          <a:p>
            <a:pPr>
              <a:lnSpc>
                <a:spcPct val="120000"/>
              </a:lnSpc>
            </a:pPr>
            <a:r>
              <a:rPr sz="1150" b="0">
                <a:solidFill>
                  <a:srgbClr val="F5F9FC"/>
                </a:solidFill>
                <a:latin typeface="Calibri"/>
              </a:rPr>
              <a:t>• Real-time Confidence Rating: The AI engine returns a 94.6% prediction confidence.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920240"/>
            <a:ext cx="6245352" cy="4023360"/>
          </a:xfrm>
          <a:prstGeom prst="rect">
            <a:avLst/>
          </a:prstGeom>
          <a:solidFill>
            <a:srgbClr val="030811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elmet_vi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062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F0FF"/>
                </a:solidFill>
                <a:latin typeface="Arial"/>
              </a:rPr>
              <a:t>SMARTVISION X  //  LIVE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9FC"/>
                </a:solidFill>
                <a:latin typeface="Arial"/>
              </a:rPr>
              <a:t>SmartVision X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18288"/>
          </a:xfrm>
          <a:prstGeom prst="rect">
            <a:avLst/>
          </a:prstGeom>
          <a:solidFill>
            <a:srgbClr val="1A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645920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Arial"/>
              </a:rPr>
              <a:t>LIVE PLATFORM DEMO: smartvision-x-gridlock-c579.vercel.app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6583680" cy="4023360"/>
          </a:xfrm>
          <a:prstGeom prst="rect">
            <a:avLst/>
          </a:prstGeom>
          <a:solidFill>
            <a:srgbClr val="030811"/>
          </a:solidFill>
          <a:ln w="25400">
            <a:solidFill>
              <a:srgbClr val="2A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martvis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6400800" cy="38404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80960" y="1920240"/>
            <a:ext cx="3776472" cy="402336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0" y="1920240"/>
            <a:ext cx="3776472" cy="45720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9659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F0FF"/>
                </a:solidFill>
                <a:latin typeface="Arial"/>
              </a:rPr>
              <a:t>INTEGRATED CONTROL ROOM</a:t>
            </a:r>
          </a:p>
          <a:p>
            <a:pPr>
              <a:lnSpc>
                <a:spcPct val="110000"/>
              </a:lnSpc>
            </a:pPr>
            <a:r>
              <a:rPr sz="1050" b="0">
                <a:solidFill>
                  <a:srgbClr val="F5F9FC"/>
                </a:solidFill>
                <a:latin typeface="Calibri"/>
              </a:rPr>
              <a:t>• Live CCTV Grid: Stream switcher simulating camera junctions across Silk Board and Majestic.</a:t>
            </a:r>
          </a:p>
          <a:p>
            <a:pPr>
              <a:lnSpc>
                <a:spcPct val="110000"/>
              </a:lnSpc>
            </a:pPr>
            <a:r>
              <a:rPr sz="1050" b="0">
                <a:solidFill>
                  <a:srgbClr val="F5F9FC"/>
                </a:solidFill>
                <a:latin typeface="Calibri"/>
              </a:rPr>
              <a:t>• AI Brain Panel: Audio/visual alerts switch with live CPU/GPU tracking.</a:t>
            </a:r>
          </a:p>
          <a:p>
            <a:pPr>
              <a:lnSpc>
                <a:spcPct val="110000"/>
              </a:lnSpc>
            </a:pPr>
            <a:r>
              <a:rPr sz="1050" b="0">
                <a:solidFill>
                  <a:srgbClr val="F5F9FC"/>
                </a:solidFill>
                <a:latin typeface="Calibri"/>
              </a:rPr>
              <a:t>• Violations Center: Instant table rendering with OCR read outs.</a:t>
            </a:r>
          </a:p>
          <a:p>
            <a:pPr>
              <a:lnSpc>
                <a:spcPct val="110000"/>
              </a:lnSpc>
            </a:pPr>
            <a:r>
              <a:rPr sz="1050" b="0">
                <a:solidFill>
                  <a:srgbClr val="F5F9FC"/>
                </a:solidFill>
                <a:latin typeface="Calibri"/>
              </a:rPr>
              <a:t>• Weather Toggles: Simulates clear, rain, or night exposure conditions.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846320"/>
            <a:ext cx="3200400" cy="822960"/>
          </a:xfrm>
          <a:prstGeom prst="roundRect">
            <a:avLst/>
          </a:prstGeom>
          <a:solidFill>
            <a:srgbClr val="0A1E3A"/>
          </a:solidFill>
          <a:ln w="25400">
            <a:solidFill>
              <a:srgbClr val="05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4892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5D782"/>
                </a:solidFill>
                <a:latin typeface="Calibri"/>
              </a:rPr>
              <a:t>LIVE PLATFORM URL</a:t>
            </a:r>
          </a:p>
          <a:p>
            <a:pPr algn="ctr"/>
            <a:r>
              <a:rPr sz="950" b="1">
                <a:solidFill>
                  <a:srgbClr val="F5F9FC"/>
                </a:solidFill>
                <a:latin typeface="Courier New"/>
              </a:rPr>
              <a:t>smartvision-x-gridlock-c579.vercel.app/command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F0FF"/>
                </a:solidFill>
                <a:latin typeface="Arial"/>
              </a:rPr>
              <a:t>SMARTVISION X  //  CORE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9FC"/>
                </a:solidFill>
                <a:latin typeface="Arial"/>
              </a:rPr>
              <a:t>Automated E-Challan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18288"/>
          </a:xfrm>
          <a:prstGeom prst="rect">
            <a:avLst/>
          </a:prstGeom>
          <a:solidFill>
            <a:srgbClr val="1A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645920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Arial"/>
              </a:rPr>
              <a:t>LIVE PLATFORM DEMO: smartvision-x-gridlock-c579.vercel.app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5029200" cy="402336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5029200" cy="45720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F0FF"/>
                </a:solidFill>
                <a:latin typeface="Arial"/>
              </a:rPr>
              <a:t>E-CHALLAN GENERATION ENGINE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F5F9FC"/>
                </a:solidFill>
                <a:latin typeface="Calibri"/>
              </a:rPr>
              <a:t>• Operator Verification: The platform keeps a human in the loop. The control officer reviews the auto-cropped plate frame before confirming.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F5F9FC"/>
                </a:solidFill>
                <a:latin typeface="Calibri"/>
              </a:rPr>
              <a:t>• Automated Fine Calculation: System auto-assigns fine amounts (₹1,000 for helmet violations, ₹2,000 for triple riding).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F5F9FC"/>
                </a:solidFill>
                <a:latin typeface="Calibri"/>
              </a:rPr>
              <a:t>• RTO Vahan Sync: Connects license plates to registered owner mobile data for automated SMS alert simulations.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F5F9FC"/>
                </a:solidFill>
                <a:latin typeface="Calibri"/>
              </a:rPr>
              <a:t>• High-fidelity PDF Receipt: Exports clean legal tickets complete with plate crops, maps, and barcode elements.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920240"/>
            <a:ext cx="47548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0116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92F"/>
                </a:solidFill>
                <a:latin typeface="Calibri"/>
              </a:rPr>
              <a:t>BENGALURU TRAFFIC POLICE</a:t>
            </a:r>
          </a:p>
          <a:p>
            <a:pPr algn="ctr"/>
            <a:r>
              <a:rPr sz="900" b="0">
                <a:solidFill>
                  <a:srgbClr val="666666"/>
                </a:solidFill>
                <a:latin typeface="Calibri"/>
              </a:rPr>
              <a:t>OFFICIAL E-CHALLAN RECEIPT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2606040"/>
            <a:ext cx="420624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44444"/>
                </a:solidFill>
                <a:latin typeface="Calibri"/>
              </a:rPr>
              <a:t>Challan Number: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743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11111"/>
                </a:solidFill>
                <a:latin typeface="Calibri"/>
              </a:rPr>
              <a:t>BTP-9082-2026-X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063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44444"/>
                </a:solidFill>
                <a:latin typeface="Calibri"/>
              </a:rPr>
              <a:t>Date &amp; Time: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063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11111"/>
                </a:solidFill>
                <a:latin typeface="Calibri"/>
              </a:rPr>
              <a:t>20-June-2026 | 10:00 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383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44444"/>
                </a:solidFill>
                <a:latin typeface="Calibri"/>
              </a:rPr>
              <a:t>Junction Area: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11111"/>
                </a:solidFill>
                <a:latin typeface="Calibri"/>
              </a:rPr>
              <a:t>Silk Board Junction (CAM-04)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703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44444"/>
                </a:solidFill>
                <a:latin typeface="Calibri"/>
              </a:rPr>
              <a:t>Vehicle Plate: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11111"/>
                </a:solidFill>
                <a:latin typeface="Calibri"/>
              </a:rPr>
              <a:t>KA-03-MX-8891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023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44444"/>
                </a:solidFill>
                <a:latin typeface="Calibri"/>
              </a:rPr>
              <a:t>Violation Class: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11111"/>
                </a:solidFill>
                <a:latin typeface="Calibri"/>
              </a:rPr>
              <a:t>Helmet Non-Compliance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343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44444"/>
                </a:solidFill>
                <a:latin typeface="Calibri"/>
              </a:rPr>
              <a:t>Fine Amount: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0000"/>
                </a:solidFill>
                <a:latin typeface="Calibri"/>
              </a:rPr>
              <a:t>₹ 1,000.00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4754880"/>
            <a:ext cx="1463040" cy="457200"/>
          </a:xfrm>
          <a:prstGeom prst="rect">
            <a:avLst/>
          </a:prstGeom>
          <a:solidFill>
            <a:srgbClr val="E6FBF3"/>
          </a:solidFill>
          <a:ln w="25400">
            <a:solidFill>
              <a:srgbClr val="05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4754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5B36C"/>
                </a:solidFill>
                <a:latin typeface="Calibri"/>
              </a:rPr>
              <a:t>VERIFIED &amp; PAID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4846320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95744" y="4846320"/>
            <a:ext cx="7315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96328" y="4846320"/>
            <a:ext cx="36576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60336" y="4846320"/>
            <a:ext cx="18288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06056" y="4846320"/>
            <a:ext cx="82296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15783" y="4846320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70648" y="4846320"/>
            <a:ext cx="4572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43800" y="4846320"/>
            <a:ext cx="18288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89520" y="4846320"/>
            <a:ext cx="7315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90104" y="4846320"/>
            <a:ext cx="36576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54112" y="4846320"/>
            <a:ext cx="18288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99832" y="4846320"/>
            <a:ext cx="82296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09560" y="4846320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64424" y="4846320"/>
            <a:ext cx="4572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37576" y="4846320"/>
            <a:ext cx="18288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83296" y="4846320"/>
            <a:ext cx="7315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F0FF"/>
                </a:solidFill>
                <a:latin typeface="Arial"/>
              </a:rPr>
              <a:t>SMARTVISION X  //  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9FC"/>
                </a:solidFill>
                <a:latin typeface="Arial"/>
              </a:rPr>
              <a:t>MongoDB Atlas Live Cloud Sync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18288"/>
          </a:xfrm>
          <a:prstGeom prst="rect">
            <a:avLst/>
          </a:prstGeom>
          <a:solidFill>
            <a:srgbClr val="1A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645920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Arial"/>
              </a:rPr>
              <a:t>LIVE PLATFORM DEMO: smartvision-x-gridlock-c579.vercel.app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5029200" cy="402336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5029200" cy="45720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5D782"/>
                </a:solidFill>
                <a:latin typeface="Arial"/>
              </a:rPr>
              <a:t>ENTERPRISE DATA PERSISTENCE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F5F9FC"/>
                </a:solidFill>
                <a:latin typeface="Calibri"/>
              </a:rPr>
              <a:t>• Hybrid Mode: Connects to live MongoDB Atlas Cloud cluster. Automatically falls back to local JSON persistence if internet drops.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F5F9FC"/>
                </a:solidFill>
                <a:latin typeface="Calibri"/>
              </a:rPr>
              <a:t>• Real-time Schema Validation: Mongoose models enforce validation rules, timestamp audits, and geospatial coordinates.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F5F9FC"/>
                </a:solidFill>
                <a:latin typeface="Calibri"/>
              </a:rPr>
              <a:t>• Query Optimization: Indexes on vehicle license plates and violation timestamps allow instant search queries.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F5F9FC"/>
                </a:solidFill>
                <a:latin typeface="Calibri"/>
              </a:rPr>
              <a:t>• Global Accessibility: Command Center dashboard queries sync instantly, giving city inspectors access to active logs.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920240"/>
            <a:ext cx="4754880" cy="4023360"/>
          </a:xfrm>
          <a:prstGeom prst="rect">
            <a:avLst/>
          </a:prstGeom>
          <a:solidFill>
            <a:srgbClr val="020712"/>
          </a:solidFill>
          <a:ln w="19050">
            <a:solidFill>
              <a:srgbClr val="05D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1920240"/>
            <a:ext cx="4754880" cy="365760"/>
          </a:xfrm>
          <a:prstGeom prst="rect">
            <a:avLst/>
          </a:prstGeom>
          <a:solidFill>
            <a:srgbClr val="0B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965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8A9BB4"/>
                </a:solidFill>
                <a:latin typeface="Courier New"/>
              </a:rPr>
              <a:t>mongoose.model("Violation")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4688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F5F9FC"/>
                </a:solidFill>
                <a:latin typeface="Courier New"/>
              </a:rPr>
              <a:t>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7614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05D782"/>
                </a:solidFill>
                <a:latin typeface="Courier New"/>
              </a:rPr>
              <a:t>  "_id": ObjectId("66741b21efb34"),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05409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05D782"/>
                </a:solidFill>
                <a:latin typeface="Courier New"/>
              </a:rPr>
              <a:t>  "plate_number": "KA03MX8891",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34670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05D782"/>
                </a:solidFill>
                <a:latin typeface="Courier New"/>
              </a:rPr>
              <a:t>  "violation_type": "No Helmet",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6393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05D782"/>
                </a:solidFill>
                <a:latin typeface="Courier New"/>
              </a:rPr>
              <a:t>  "location": "Silk Board Junction",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9319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05D782"/>
                </a:solidFill>
                <a:latin typeface="Courier New"/>
              </a:rPr>
              <a:t>  "confidence": 0.946,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2245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05D782"/>
                </a:solidFill>
                <a:latin typeface="Courier New"/>
              </a:rPr>
              <a:t>  "evidence_image": "uploads/ KA03MX.jpg",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51713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05D782"/>
                </a:solidFill>
                <a:latin typeface="Courier New"/>
              </a:rPr>
              <a:t>  "challan_amount": 1000,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80974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05D782"/>
                </a:solidFill>
                <a:latin typeface="Courier New"/>
              </a:rPr>
              <a:t>  "status": "pending_operator_review",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51023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05D782"/>
                </a:solidFill>
                <a:latin typeface="Courier New"/>
              </a:rPr>
              <a:t>  "timestamp": ISODate("2026-06-20T10:00:00Z")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394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F5F9FC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F0FF"/>
                </a:solidFill>
                <a:latin typeface="Arial"/>
              </a:rPr>
              <a:t>SMARTVISION X  // 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9FC"/>
                </a:solidFill>
                <a:latin typeface="Arial"/>
              </a:rPr>
              <a:t>Smart Dispatch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18288"/>
          </a:xfrm>
          <a:prstGeom prst="rect">
            <a:avLst/>
          </a:prstGeom>
          <a:solidFill>
            <a:srgbClr val="1A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645920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Arial"/>
              </a:rPr>
              <a:t>LIVE PLATFORM DEMO: smartvision-x-gridlock-c579.vercel.app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5029200" cy="402336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5029200" cy="45720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A5CF5"/>
                </a:solidFill>
                <a:latin typeface="Arial"/>
              </a:rPr>
              <a:t>HAVERSINE NEAREST OFFICER ROUTING</a:t>
            </a:r>
          </a:p>
          <a:p>
            <a:pPr>
              <a:lnSpc>
                <a:spcPct val="110000"/>
              </a:lnSpc>
            </a:pPr>
            <a:r>
              <a:rPr sz="1100" b="0">
                <a:solidFill>
                  <a:srgbClr val="F5F9FC"/>
                </a:solidFill>
                <a:latin typeface="Calibri"/>
              </a:rPr>
              <a:t>• Real-time GPS Tracking: Field officers update their live coordinate pairs back to the dashboard.</a:t>
            </a:r>
          </a:p>
          <a:p>
            <a:pPr>
              <a:lnSpc>
                <a:spcPct val="110000"/>
              </a:lnSpc>
            </a:pPr>
            <a:r>
              <a:rPr sz="1100" b="0">
                <a:solidFill>
                  <a:srgbClr val="F5F9FC"/>
                </a:solidFill>
                <a:latin typeface="Calibri"/>
              </a:rPr>
              <a:t>• Haversine Metric: When an operator verifies a critical block or triple-riding event, the backend runs the Haversine formula to compute distance.</a:t>
            </a:r>
          </a:p>
          <a:p>
            <a:pPr>
              <a:lnSpc>
                <a:spcPct val="110000"/>
              </a:lnSpc>
            </a:pPr>
            <a:r>
              <a:rPr sz="1100" b="0">
                <a:solidFill>
                  <a:srgbClr val="F5F9FC"/>
                </a:solidFill>
                <a:latin typeface="Calibri"/>
              </a:rPr>
              <a:t>• Dynamic dispatch: Instantly orders patrol vehicles closest to the target coordinate (e.g. Officer Surjeet located 1.2km away).</a:t>
            </a:r>
          </a:p>
          <a:p>
            <a:pPr>
              <a:lnSpc>
                <a:spcPct val="110000"/>
              </a:lnSpc>
            </a:pPr>
            <a:r>
              <a:rPr sz="1100" b="0">
                <a:solidFill>
                  <a:srgbClr val="F5F9FC"/>
                </a:solidFill>
                <a:latin typeface="Calibri"/>
              </a:rPr>
              <a:t>• Interactive Route Map: Highlights target coordinates on the CommandCenter dispatch console.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920240"/>
            <a:ext cx="4754880" cy="4023360"/>
          </a:xfrm>
          <a:prstGeom prst="rect">
            <a:avLst/>
          </a:prstGeom>
          <a:solidFill>
            <a:srgbClr val="0E1626"/>
          </a:solidFill>
          <a:ln w="19050">
            <a:solidFill>
              <a:srgbClr val="8A5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49440" y="2194560"/>
            <a:ext cx="548640" cy="548640"/>
          </a:xfrm>
          <a:prstGeom prst="ellipse">
            <a:avLst/>
          </a:prstGeom>
          <a:solidFill>
            <a:srgbClr val="FF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194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1945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5F9FC"/>
                </a:solidFill>
                <a:latin typeface="Arial"/>
              </a:rPr>
              <a:t>1. CRITICAL INCIDENT FLAGGED</a:t>
            </a:r>
          </a:p>
          <a:p>
            <a:r>
              <a:rPr sz="1050" b="0">
                <a:solidFill>
                  <a:srgbClr val="8A9BB4"/>
                </a:solidFill>
                <a:latin typeface="Calibri"/>
              </a:rPr>
              <a:t>CAM-04 identifies illegal parking gridlock.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5472" y="2743200"/>
            <a:ext cx="36576" cy="640080"/>
          </a:xfrm>
          <a:prstGeom prst="rect">
            <a:avLst/>
          </a:prstGeom>
          <a:solidFill>
            <a:srgbClr val="1A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0" y="3383280"/>
            <a:ext cx="548640" cy="54864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3383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3832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5F9FC"/>
                </a:solidFill>
                <a:latin typeface="Arial"/>
              </a:rPr>
              <a:t>2. PROXIMITY ENGINE COMPUTES</a:t>
            </a:r>
          </a:p>
          <a:p>
            <a:r>
              <a:rPr sz="1050" b="0">
                <a:solidFill>
                  <a:srgbClr val="8A9BB4"/>
                </a:solidFill>
                <a:latin typeface="Calibri"/>
              </a:rPr>
              <a:t>Backend filters active patrol coordinate arrays.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5472" y="3931920"/>
            <a:ext cx="36576" cy="640080"/>
          </a:xfrm>
          <a:prstGeom prst="rect">
            <a:avLst/>
          </a:prstGeom>
          <a:solidFill>
            <a:srgbClr val="1A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49440" y="4572000"/>
            <a:ext cx="548640" cy="548640"/>
          </a:xfrm>
          <a:prstGeom prst="ellipse">
            <a:avLst/>
          </a:prstGeom>
          <a:solidFill>
            <a:srgbClr val="05D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4572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5720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5F9FC"/>
                </a:solidFill>
                <a:latin typeface="Arial"/>
              </a:rPr>
              <a:t>3. CLOSEST CO-ORDINATE ROUTE</a:t>
            </a:r>
          </a:p>
          <a:p>
            <a:r>
              <a:rPr sz="1050" b="0">
                <a:solidFill>
                  <a:srgbClr val="8A9BB4"/>
                </a:solidFill>
                <a:latin typeface="Calibri"/>
              </a:rPr>
              <a:t>Officer dispatch instructions pushed automatically.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F0FF"/>
                </a:solidFill>
                <a:latin typeface="Arial"/>
              </a:rPr>
              <a:t>SMARTVISION X  // 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9FC"/>
                </a:solidFill>
                <a:latin typeface="Arial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18288"/>
          </a:xfrm>
          <a:prstGeom prst="rect">
            <a:avLst/>
          </a:prstGeom>
          <a:solidFill>
            <a:srgbClr val="1A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645920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Arial"/>
              </a:rPr>
              <a:t>LIVE PLATFORM DEMO: smartvision-x-gridlock-c579.vercel.app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10725912" cy="91440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91440" cy="9144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F0FF"/>
                </a:solidFill>
                <a:latin typeface="Arial"/>
              </a:rPr>
              <a:t>FRONTEND MODULES</a:t>
            </a:r>
          </a:p>
          <a:p>
            <a:r>
              <a:rPr sz="1200" b="1">
                <a:solidFill>
                  <a:srgbClr val="F5F9FC"/>
                </a:solidFill>
                <a:latin typeface="Calibri"/>
              </a:rPr>
              <a:t>Stack: React.js, Vite Builder, Tailwind CSS, Lucide Icons, React Router DOM v6</a:t>
            </a:r>
          </a:p>
          <a:p>
            <a:r>
              <a:rPr sz="1100" b="0">
                <a:solidFill>
                  <a:srgbClr val="8A9BB4"/>
                </a:solidFill>
                <a:latin typeface="Calibri"/>
              </a:rPr>
              <a:t>Usage: Dynamic route-based views, theme controllers, responsive dashboards.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71800"/>
            <a:ext cx="10725912" cy="91440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971800"/>
            <a:ext cx="91440" cy="914400"/>
          </a:xfrm>
          <a:prstGeom prst="rect">
            <a:avLst/>
          </a:prstGeom>
          <a:solidFill>
            <a:srgbClr val="2A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A82E6"/>
                </a:solidFill>
                <a:latin typeface="Arial"/>
              </a:rPr>
              <a:t>BACKEND SYSTEM</a:t>
            </a:r>
          </a:p>
          <a:p>
            <a:r>
              <a:rPr sz="1200" b="1">
                <a:solidFill>
                  <a:srgbClr val="F5F9FC"/>
                </a:solidFill>
                <a:latin typeface="Calibri"/>
              </a:rPr>
              <a:t>Stack: Node.js, Express Framework, Multer File Uploads, REST controllers</a:t>
            </a:r>
          </a:p>
          <a:p>
            <a:r>
              <a:rPr sz="1100" b="0">
                <a:solidFill>
                  <a:srgbClr val="8A9BB4"/>
                </a:solidFill>
                <a:latin typeface="Calibri"/>
              </a:rPr>
              <a:t>Usage: MVC structure: split models, controllers, and JSON local mock storage fallbacks.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10725912" cy="91440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91440" cy="914400"/>
          </a:xfrm>
          <a:prstGeom prst="rect">
            <a:avLst/>
          </a:prstGeom>
          <a:solidFill>
            <a:srgbClr val="05D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69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5D782"/>
                </a:solidFill>
                <a:latin typeface="Arial"/>
              </a:rPr>
              <a:t>CLOUD PERSISTENCE</a:t>
            </a:r>
          </a:p>
          <a:p>
            <a:r>
              <a:rPr sz="1200" b="1">
                <a:solidFill>
                  <a:srgbClr val="F5F9FC"/>
                </a:solidFill>
                <a:latin typeface="Calibri"/>
              </a:rPr>
              <a:t>Stack: MongoDB Atlas, Mongoose ORM, Connection Status Flags</a:t>
            </a:r>
          </a:p>
          <a:p>
            <a:r>
              <a:rPr sz="1100" b="0">
                <a:solidFill>
                  <a:srgbClr val="8A9BB4"/>
                </a:solidFill>
                <a:latin typeface="Calibri"/>
              </a:rPr>
              <a:t>Usage: Auto-sync loop triggers collection upserts, online dashboard flag updates.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074920"/>
            <a:ext cx="10725912" cy="91440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074920"/>
            <a:ext cx="91440" cy="914400"/>
          </a:xfrm>
          <a:prstGeom prst="rect">
            <a:avLst/>
          </a:prstGeom>
          <a:solidFill>
            <a:srgbClr val="8A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120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8A5CF5"/>
                </a:solidFill>
                <a:latin typeface="Arial"/>
              </a:rPr>
              <a:t>COMPUTER VISION ENGINE</a:t>
            </a:r>
          </a:p>
          <a:p>
            <a:r>
              <a:rPr sz="1200" b="1">
                <a:solidFill>
                  <a:srgbClr val="F5F9FC"/>
                </a:solidFill>
                <a:latin typeface="Calibri"/>
              </a:rPr>
              <a:t>Stack: Python 3.13, Flask API, YOLOv8 (Ultralytics), EasyOCR, OpenCV</a:t>
            </a:r>
          </a:p>
          <a:p>
            <a:r>
              <a:rPr sz="1100" b="0">
                <a:solidFill>
                  <a:srgbClr val="8A9BB4"/>
                </a:solidFill>
                <a:latin typeface="Calibri"/>
              </a:rPr>
              <a:t>Usage: Flask server runs YOLO inference and EasyOCR reader inside isolated venv.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F0FF"/>
                </a:solidFill>
                <a:latin typeface="Arial"/>
              </a:rPr>
              <a:t>SMARTVISION X  // 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9FC"/>
                </a:solidFill>
                <a:latin typeface="Arial"/>
              </a:rPr>
              <a:t>Business Impact &amp;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18288"/>
          </a:xfrm>
          <a:prstGeom prst="rect">
            <a:avLst/>
          </a:prstGeom>
          <a:solidFill>
            <a:srgbClr val="1A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645920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Arial"/>
              </a:rPr>
              <a:t>LIVE PLATFORM DEMO: smartvision-x-gridlock-c579.vercel.app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3383280" cy="384048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3383280" cy="137160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F0FF"/>
                </a:solidFill>
                <a:latin typeface="Arial"/>
              </a:rPr>
              <a:t>90%</a:t>
            </a:r>
          </a:p>
          <a:p>
            <a:pPr algn="ctr"/>
            <a:r>
              <a:rPr sz="1100" b="1">
                <a:solidFill>
                  <a:srgbClr val="8A9BB4"/>
                </a:solidFill>
                <a:latin typeface="Arial"/>
              </a:rPr>
              <a:t>Time Reduced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3474720"/>
            <a:ext cx="2468880" cy="9144"/>
          </a:xfrm>
          <a:prstGeom prst="rect">
            <a:avLst/>
          </a:prstGeom>
          <a:solidFill>
            <a:srgbClr val="1A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9FC"/>
                </a:solidFill>
                <a:latin typeface="Arial"/>
              </a:rPr>
              <a:t>90% Processing Efficiency</a:t>
            </a:r>
          </a:p>
          <a:p>
            <a:pPr>
              <a:lnSpc>
                <a:spcPct val="110000"/>
              </a:lnSpc>
            </a:pPr>
            <a:r>
              <a:rPr sz="1150" b="0">
                <a:solidFill>
                  <a:srgbClr val="8A9BB4"/>
                </a:solidFill>
                <a:latin typeface="Calibri"/>
              </a:rPr>
              <a:t>
Automated YOLO/OCR identification reduces time-to-issue for challans from 3 days to under 5 seconds.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011680"/>
            <a:ext cx="3383280" cy="384048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011680"/>
            <a:ext cx="3383280" cy="137160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574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5D782"/>
                </a:solidFill>
                <a:latin typeface="Arial"/>
              </a:rPr>
              <a:t>40%</a:t>
            </a:r>
          </a:p>
          <a:p>
            <a:pPr algn="ctr"/>
            <a:r>
              <a:rPr sz="1100" b="1">
                <a:solidFill>
                  <a:srgbClr val="8A9BB4"/>
                </a:solidFill>
                <a:latin typeface="Arial"/>
              </a:rPr>
              <a:t>Junction Clearance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474720"/>
            <a:ext cx="2468880" cy="9144"/>
          </a:xfrm>
          <a:prstGeom prst="rect">
            <a:avLst/>
          </a:prstGeom>
          <a:solidFill>
            <a:srgbClr val="1A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6576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9FC"/>
                </a:solidFill>
                <a:latin typeface="Arial"/>
              </a:rPr>
              <a:t>40% Congestion Relief</a:t>
            </a:r>
          </a:p>
          <a:p>
            <a:pPr>
              <a:lnSpc>
                <a:spcPct val="110000"/>
              </a:lnSpc>
            </a:pPr>
            <a:r>
              <a:rPr sz="1150" b="0">
                <a:solidFill>
                  <a:srgbClr val="8A9BB4"/>
                </a:solidFill>
                <a:latin typeface="Calibri"/>
              </a:rPr>
              <a:t>
Proximity dispatch clears illegal street parking blockers from sidewalk junctions before gridlocks expand.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011680"/>
            <a:ext cx="3383280" cy="384048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011680"/>
            <a:ext cx="3383280" cy="1371600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0574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A82E6"/>
                </a:solidFill>
                <a:latin typeface="Arial"/>
              </a:rPr>
              <a:t>3.5x</a:t>
            </a:r>
          </a:p>
          <a:p>
            <a:pPr algn="ctr"/>
            <a:r>
              <a:rPr sz="1100" b="1">
                <a:solidFill>
                  <a:srgbClr val="8A9BB4"/>
                </a:solidFill>
                <a:latin typeface="Arial"/>
              </a:rPr>
              <a:t>Enforcement Yield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3474720"/>
            <a:ext cx="2468880" cy="9144"/>
          </a:xfrm>
          <a:prstGeom prst="rect">
            <a:avLst/>
          </a:prstGeom>
          <a:solidFill>
            <a:srgbClr val="1A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6576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9FC"/>
                </a:solidFill>
                <a:latin typeface="Arial"/>
              </a:rPr>
              <a:t>3.5x Fine Collection</a:t>
            </a:r>
          </a:p>
          <a:p>
            <a:pPr>
              <a:lnSpc>
                <a:spcPct val="110000"/>
              </a:lnSpc>
            </a:pPr>
            <a:r>
              <a:rPr sz="1150" b="0">
                <a:solidFill>
                  <a:srgbClr val="8A9BB4"/>
                </a:solidFill>
                <a:latin typeface="Calibri"/>
              </a:rPr>
              <a:t>
Eliminates human observation leakage. Multiple cameras stream 24/7 without fatigue, checking every vehicle registration.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F0FF"/>
                </a:solidFill>
                <a:latin typeface="Arial"/>
              </a:rPr>
              <a:t>SMARTVISION X  //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9FC"/>
                </a:solidFill>
                <a:latin typeface="Arial"/>
              </a:rPr>
              <a:t>Future Roadmap &amp;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18288"/>
          </a:xfrm>
          <a:prstGeom prst="rect">
            <a:avLst/>
          </a:prstGeom>
          <a:solidFill>
            <a:srgbClr val="1A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645920" cy="2743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F0FF"/>
                </a:solidFill>
                <a:latin typeface="Arial"/>
              </a:rPr>
              <a:t>LIVE PLATFORM DEMO: smartvision-x-gridlock-c579.vercel.app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5F9FC"/>
                </a:solidFill>
                <a:latin typeface="Calibri"/>
              </a:rPr>
              <a:t>Strategic roadmap for scaling SmartVision X across regional state grids: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10725912" cy="36576"/>
          </a:xfrm>
          <a:prstGeom prst="rect">
            <a:avLst/>
          </a:prstGeom>
          <a:solidFill>
            <a:srgbClr val="1A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274320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377440"/>
            <a:ext cx="2560320" cy="118872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F0FF"/>
                </a:solidFill>
                <a:latin typeface="Arial"/>
              </a:rPr>
              <a:t>Q3 2026</a:t>
            </a:r>
          </a:p>
          <a:p>
            <a:r>
              <a:rPr sz="1200" b="1">
                <a:solidFill>
                  <a:srgbClr val="F5F9FC"/>
                </a:solidFill>
                <a:latin typeface="Arial"/>
              </a:rPr>
              <a:t>Edge Hardware Port</a:t>
            </a:r>
          </a:p>
        </p:txBody>
      </p:sp>
      <p:sp>
        <p:nvSpPr>
          <p:cNvPr id="13" name="Oval 12"/>
          <p:cNvSpPr/>
          <p:nvPr/>
        </p:nvSpPr>
        <p:spPr>
          <a:xfrm>
            <a:off x="1874519" y="3730752"/>
            <a:ext cx="274320" cy="274320"/>
          </a:xfrm>
          <a:prstGeom prst="ellipse">
            <a:avLst/>
          </a:prstGeom>
          <a:solidFill>
            <a:srgbClr val="070C16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65960" y="3822191"/>
            <a:ext cx="91440" cy="9144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8A9BB4"/>
                </a:solidFill>
                <a:latin typeface="Calibri"/>
              </a:rPr>
              <a:t>Deploy YOLOv8-nano onto NVIDIA Jetson Orin Nano modules for physical CCTV cam placement.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377440"/>
            <a:ext cx="2560320" cy="118872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4231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F0FF"/>
                </a:solidFill>
                <a:latin typeface="Arial"/>
              </a:rPr>
              <a:t>Q4 2026</a:t>
            </a:r>
          </a:p>
          <a:p>
            <a:r>
              <a:rPr sz="1200" b="1">
                <a:solidFill>
                  <a:srgbClr val="F5F9FC"/>
                </a:solidFill>
                <a:latin typeface="Arial"/>
              </a:rPr>
              <a:t>NIC Vahan Integration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0" y="3730752"/>
            <a:ext cx="274320" cy="274320"/>
          </a:xfrm>
          <a:prstGeom prst="ellipse">
            <a:avLst/>
          </a:prstGeom>
          <a:solidFill>
            <a:srgbClr val="070C16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63440" y="3822191"/>
            <a:ext cx="91440" cy="9144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42062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8A9BB4"/>
                </a:solidFill>
                <a:latin typeface="Calibri"/>
              </a:rPr>
              <a:t>Establish direct API handshakes with NIC Vahan/Sarathi databases for real-time owner registry search.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377440"/>
            <a:ext cx="2560320" cy="118872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4231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F0FF"/>
                </a:solidFill>
                <a:latin typeface="Arial"/>
              </a:rPr>
              <a:t>H1 2027</a:t>
            </a:r>
          </a:p>
          <a:p>
            <a:r>
              <a:rPr sz="1200" b="1">
                <a:solidFill>
                  <a:srgbClr val="F5F9FC"/>
                </a:solidFill>
                <a:latin typeface="Arial"/>
              </a:rPr>
              <a:t>Citizen Complaint App</a:t>
            </a:r>
          </a:p>
        </p:txBody>
      </p:sp>
      <p:sp>
        <p:nvSpPr>
          <p:cNvPr id="23" name="Oval 22"/>
          <p:cNvSpPr/>
          <p:nvPr/>
        </p:nvSpPr>
        <p:spPr>
          <a:xfrm>
            <a:off x="7269480" y="3730752"/>
            <a:ext cx="274320" cy="274320"/>
          </a:xfrm>
          <a:prstGeom prst="ellipse">
            <a:avLst/>
          </a:prstGeom>
          <a:solidFill>
            <a:srgbClr val="070C16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60920" y="3822191"/>
            <a:ext cx="91440" cy="9144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42062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8A9BB4"/>
                </a:solidFill>
                <a:latin typeface="Calibri"/>
              </a:rPr>
              <a:t>Launch crowdsourced reporting app. Citizens upload pictures which run auto YOLO checks.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60" y="2377440"/>
            <a:ext cx="2560320" cy="1188720"/>
          </a:xfrm>
          <a:prstGeom prst="rect">
            <a:avLst/>
          </a:prstGeom>
          <a:solidFill>
            <a:srgbClr val="0E1626"/>
          </a:solidFill>
          <a:ln w="19050">
            <a:solidFill>
              <a:srgbClr val="1A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24231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F0FF"/>
                </a:solidFill>
                <a:latin typeface="Arial"/>
              </a:rPr>
              <a:t>H2 2027</a:t>
            </a:r>
          </a:p>
          <a:p>
            <a:r>
              <a:rPr sz="1200" b="1">
                <a:solidFill>
                  <a:srgbClr val="F5F9FC"/>
                </a:solidFill>
                <a:latin typeface="Arial"/>
              </a:rPr>
              <a:t>AI-Predictive Signals</a:t>
            </a:r>
          </a:p>
        </p:txBody>
      </p:sp>
      <p:sp>
        <p:nvSpPr>
          <p:cNvPr id="28" name="Oval 27"/>
          <p:cNvSpPr/>
          <p:nvPr/>
        </p:nvSpPr>
        <p:spPr>
          <a:xfrm>
            <a:off x="9966960" y="3730752"/>
            <a:ext cx="274320" cy="274320"/>
          </a:xfrm>
          <a:prstGeom prst="ellipse">
            <a:avLst/>
          </a:prstGeom>
          <a:solidFill>
            <a:srgbClr val="070C16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0" y="3822191"/>
            <a:ext cx="91440" cy="9144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42062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8A9BB4"/>
                </a:solidFill>
                <a:latin typeface="Calibri"/>
              </a:rPr>
              <a:t>Direct intersection overrides to green corridor routing based on neural traffic forecasts.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F0FF"/>
                </a:solidFill>
                <a:latin typeface="Calibri"/>
              </a:rPr>
              <a:t>Autonomous Urban Safety Platform — Ready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