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1104" y="1600200"/>
            <a:ext cx="3657600" cy="3657600"/>
          </a:xfrm>
          <a:prstGeom prst="ellipse">
            <a:avLst/>
          </a:prstGeom>
          <a:solidFill>
            <a:srgbClr val="0A1224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18304" y="2057400"/>
            <a:ext cx="2743200" cy="2743200"/>
          </a:xfrm>
          <a:prstGeom prst="ellipse">
            <a:avLst/>
          </a:prstGeom>
          <a:solidFill>
            <a:srgbClr val="0F1B35"/>
          </a:solidFill>
          <a:ln w="12700">
            <a:solidFill>
              <a:srgbClr val="2A82E6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457200" y="15544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FLIPKART GRIDLOCK HACKATHON 2.0  //  THEME 3 SUBMISSION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12745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</a:t>
            </a:r>
            <a:endParaRPr lang="en-US" sz="68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8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AI-Powered Traffic Enforcement &amp; Safety Platform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17904" y="4389120"/>
            <a:ext cx="9144000" cy="164592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526280"/>
            <a:ext cx="8531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4800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Surjeet Yadav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28800" y="5257800"/>
            <a:ext cx="8531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D7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smartvision-x-gridlock-c579.vercel.app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5577840"/>
            <a:ext cx="8531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React / Vite + Express MVC + YOLOv8 + MongoDB Atlas Sync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Vision &amp; Mission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5029200" cy="3840480"/>
          </a:xfrm>
          <a:prstGeom prst="rect">
            <a:avLst/>
          </a:prstGeom>
          <a:solidFill>
            <a:srgbClr val="0E1626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11680"/>
            <a:ext cx="5029200" cy="54864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103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834640"/>
            <a:ext cx="4297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a fully autonomous urban mobility nervous system that eliminates human delays in traffic enforcement, instantly detects life-threatening safety violations, and secures Indian roads using real-time Edge Artificial Intelligence.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5029200" cy="3840480"/>
          </a:xfrm>
          <a:prstGeom prst="rect">
            <a:avLst/>
          </a:prstGeom>
          <a:solidFill>
            <a:srgbClr val="0E1626"/>
          </a:solidFill>
          <a:ln w="19050">
            <a:solidFill>
              <a:srgbClr val="2A82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011680"/>
            <a:ext cx="5029200" cy="54864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2103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66560" y="2834640"/>
            <a:ext cx="4297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 end-to-end MERN stack + Python CV application that processes live CCTV streams to: 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 Helmetless Riders &amp; Triple Riding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Identify Sidewalk/Illegal Parking Blockages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Auto-generate legal evidence &amp; PDF Challans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Dispatch patrol officers based on GPS proximity.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PROBLEM STATEMENT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Urban Traffic Crisis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3383280" cy="3840480"/>
          </a:xfrm>
          <a:prstGeom prst="rect">
            <a:avLst/>
          </a:prstGeom>
          <a:solidFill>
            <a:srgbClr val="0E1626"/>
          </a:solidFill>
          <a:ln w="19050">
            <a:solidFill>
              <a:srgbClr val="FF2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11680"/>
            <a:ext cx="3383280" cy="91440"/>
          </a:xfrm>
          <a:prstGeom prst="rect">
            <a:avLst/>
          </a:prstGeom>
          <a:solidFill>
            <a:srgbClr val="FF2A5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286000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Fatalities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3291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Safety Violations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37490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 ignoring helmet mandates and practicing dangerous triple-riding habits cause 60%+ of two-wheeler road casualties.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89120" y="2011680"/>
            <a:ext cx="3383280" cy="3840480"/>
          </a:xfrm>
          <a:prstGeom prst="rect">
            <a:avLst/>
          </a:prstGeom>
          <a:solidFill>
            <a:srgbClr val="0E1626"/>
          </a:solidFill>
          <a:ln w="19050">
            <a:solidFill>
              <a:srgbClr val="FF9F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011680"/>
            <a:ext cx="3383280" cy="91440"/>
          </a:xfrm>
          <a:prstGeom prst="rect">
            <a:avLst/>
          </a:prstGeom>
          <a:solidFill>
            <a:srgbClr val="FF9F1C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2286000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24688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F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Congestion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663440" y="3291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Junction Bottlenecks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663440" y="37490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parking on major urban arterial roads blocks sidewalks and creates severe choke points (e.g., Silk Board Jn).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2011680"/>
            <a:ext cx="3383280" cy="3840480"/>
          </a:xfrm>
          <a:prstGeom prst="rect">
            <a:avLst/>
          </a:prstGeom>
          <a:solidFill>
            <a:srgbClr val="0E1626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0" y="2011680"/>
            <a:ext cx="338328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2286000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321040" y="24688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Missed Tickets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321040" y="3291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Leakage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21040" y="37490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operators miss over 80% of transient parking and helmet violations due to sheer feed volume and visual fatigue.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PROBLEM STATEMENT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of Manual Enforcement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traffic policing methods cannot scale with mega-city volumes due to: 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137160" cy="822960"/>
          </a:xfrm>
          <a:prstGeom prst="rect">
            <a:avLst/>
          </a:prstGeom>
          <a:solidFill>
            <a:srgbClr val="FF2A5F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2377440"/>
            <a:ext cx="10588752" cy="8229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514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VISUAL FATIGUE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25146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for control room officers to monitor hundreds of CCTV streams concurrently 24×7 without missing violations.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137160" cy="822960"/>
          </a:xfrm>
          <a:prstGeom prst="rect">
            <a:avLst/>
          </a:prstGeom>
          <a:solidFill>
            <a:srgbClr val="FF2A5F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3337560"/>
            <a:ext cx="10588752" cy="8229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474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PROCESSING LATENCY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4747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e-challans take days to process and dispatch, losing the psychological impact of immediate traffic fine warnings.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137160" cy="822960"/>
          </a:xfrm>
          <a:prstGeom prst="rect">
            <a:avLst/>
          </a:prstGeom>
          <a:solidFill>
            <a:srgbClr val="FF2A5F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4297680"/>
            <a:ext cx="10588752" cy="8229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434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OFF-LINE DISPATCH LOOP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443484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connection between cameras flagging violations and nearby patrol cars, leaving field units unrouted.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257800"/>
            <a:ext cx="137160" cy="822960"/>
          </a:xfrm>
          <a:prstGeom prst="rect">
            <a:avLst/>
          </a:prstGeom>
          <a:solidFill>
            <a:srgbClr val="FF2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5257800"/>
            <a:ext cx="10588752" cy="8229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5394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REPEAT HISTORIES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0" y="539496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queries registration numbers against history to identify high-risk drivers in real-time.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 SmartVision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solidFill>
            <a:srgbClr val="0D172A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Ultimate AI-Powered Traffic Nervous System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423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platform that captures street streams, detects violations using custom-quantised YOLOv8 models, reads license plates with OCR, and dispatches responders via a real-time web portal.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474720"/>
            <a:ext cx="2560320" cy="237744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114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CCTV CAPTURE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4480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video feeds from high-density junctions stream directly to edge servers.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4389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82E6"/>
                </a:solidFill>
              </a:rPr>
              <a:t>➔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429000" y="3474720"/>
            <a:ext cx="2560320" cy="237744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11880" y="4114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 INFERENCE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11880" y="4480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YOLOv8 instantly locates riders, cars, helmets, and plates.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4389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82E6"/>
                </a:solidFill>
              </a:rPr>
              <a:t>➔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126480" y="3474720"/>
            <a:ext cx="2560320" cy="237744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09360" y="4114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OCR READ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4480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 extracts alphanumeric text from HSRP plates on violation frames.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41080" y="4389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82E6"/>
                </a:solidFill>
              </a:rPr>
              <a:t>➔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823960" y="3474720"/>
            <a:ext cx="2560320" cy="237744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006840" y="4114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ENFORCEMENT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006840" y="4480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stores record. Dispatch triggers closest patrol car.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PLATFORM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Modules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3383280" cy="18288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20240"/>
            <a:ext cx="3383280" cy="36576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9339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Violation Detection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camera feed analysis with bounding boxes for motorcycles, riders, helmet status, and illegal parking.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920240"/>
            <a:ext cx="3383280" cy="18288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920240"/>
            <a:ext cx="3383280" cy="36576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13" name="Text 11"/>
          <p:cNvSpPr/>
          <p:nvPr/>
        </p:nvSpPr>
        <p:spPr>
          <a:xfrm>
            <a:off x="4480560" y="199339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Evidence Center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7744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Frictionless dashboard showing violation snapshots, confidence rates, plate crop crops, and PDF download buttons.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63840" y="1920240"/>
            <a:ext cx="3383280" cy="18288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1920240"/>
            <a:ext cx="3383280" cy="36576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99339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Patrol Dispatcher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7744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GPS-tracked patrol dispatches. Calculates nearest active responder using coordinates and dispatches with route details.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023360"/>
            <a:ext cx="3383280" cy="18288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023360"/>
            <a:ext cx="3383280" cy="36576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09651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Offenders Database (Risk)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4805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Alphanumeric query interface retrieving history records from VAHAN database simulator to calculate recidivism risk scores.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97680" y="4023360"/>
            <a:ext cx="3383280" cy="18288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0" y="4023360"/>
            <a:ext cx="3383280" cy="36576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25" name="Text 23"/>
          <p:cNvSpPr/>
          <p:nvPr/>
        </p:nvSpPr>
        <p:spPr>
          <a:xfrm>
            <a:off x="4480560" y="409651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Configuration Console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80560" y="44805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threshold tuners allowing operators to live-adjust YOLOv8 confidence rates, OCR sensitivity, and IR exposure.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63840" y="4023360"/>
            <a:ext cx="3383280" cy="18288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4023360"/>
            <a:ext cx="3383280" cy="36576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409651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Override Module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46720" y="44805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Corridor simulator which triggers green lights sequentially across junctions to ensure gridlock clearance.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TECHNOLOGY 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Vision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raw CCTV camera feeds are processed into legally binding traffic citations in milliseconds: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1965960" cy="3474720"/>
          </a:xfrm>
          <a:prstGeom prst="rect">
            <a:avLst/>
          </a:prstGeom>
          <a:solidFill>
            <a:srgbClr val="0E1626"/>
          </a:solidFill>
          <a:ln w="12700">
            <a:solidFill>
              <a:srgbClr val="2A82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560320"/>
            <a:ext cx="1691640" cy="457200"/>
          </a:xfrm>
          <a:prstGeom prst="roundRect">
            <a:avLst/>
          </a:prstGeom>
          <a:solidFill>
            <a:srgbClr val="2A82E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651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CCTV CAPTURE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154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Stream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3474720"/>
            <a:ext cx="169164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566160"/>
            <a:ext cx="16916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1080p stream at 30 FPS. Weather filters simulation (Rain/Night) adjust exposure.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907792" y="2377440"/>
            <a:ext cx="1965960" cy="3474720"/>
          </a:xfrm>
          <a:prstGeom prst="rect">
            <a:avLst/>
          </a:prstGeom>
          <a:solidFill>
            <a:srgbClr val="0E1626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44952" y="2560320"/>
            <a:ext cx="1691640" cy="457200"/>
          </a:xfrm>
          <a:prstGeom prst="roundRect">
            <a:avLst/>
          </a:prstGeom>
          <a:solidFill>
            <a:srgbClr val="00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3044952" y="2651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DETECT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4952" y="3154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YOLOv8-nano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44952" y="3474720"/>
            <a:ext cx="169164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20" name="Text 18"/>
          <p:cNvSpPr/>
          <p:nvPr/>
        </p:nvSpPr>
        <p:spPr>
          <a:xfrm>
            <a:off x="3044952" y="3566160"/>
            <a:ext cx="16916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Localises class boxes: car, motorcycle, rider, helmet, plate.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19472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84064" y="2377440"/>
            <a:ext cx="1965960" cy="3474720"/>
          </a:xfrm>
          <a:prstGeom prst="rect">
            <a:avLst/>
          </a:prstGeom>
          <a:solidFill>
            <a:srgbClr val="0E1626"/>
          </a:solidFill>
          <a:ln w="12700">
            <a:solidFill>
              <a:srgbClr val="8A5C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21224" y="2560320"/>
            <a:ext cx="1691640" cy="457200"/>
          </a:xfrm>
          <a:prstGeom prst="roundRect">
            <a:avLst/>
          </a:prstGeom>
          <a:solidFill>
            <a:srgbClr val="8A5CF5"/>
          </a:solidFill>
          <a:ln/>
        </p:spPr>
      </p:sp>
      <p:sp>
        <p:nvSpPr>
          <p:cNvPr id="24" name="Text 22"/>
          <p:cNvSpPr/>
          <p:nvPr/>
        </p:nvSpPr>
        <p:spPr>
          <a:xfrm>
            <a:off x="5221224" y="2651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EASYOCR ENGINE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21224" y="3154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CRNN OCR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21224" y="3474720"/>
            <a:ext cx="169164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27" name="Text 25"/>
          <p:cNvSpPr/>
          <p:nvPr/>
        </p:nvSpPr>
        <p:spPr>
          <a:xfrm>
            <a:off x="5221224" y="3566160"/>
            <a:ext cx="16916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cropped plate image. Applies perspective warp and Otsu thresholding.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095744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260336" y="2377440"/>
            <a:ext cx="1965960" cy="3474720"/>
          </a:xfrm>
          <a:prstGeom prst="rect">
            <a:avLst/>
          </a:prstGeom>
          <a:solidFill>
            <a:srgbClr val="0E1626"/>
          </a:solidFill>
          <a:ln w="12700">
            <a:solidFill>
              <a:srgbClr val="FF9F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97496" y="2560320"/>
            <a:ext cx="1691640" cy="457200"/>
          </a:xfrm>
          <a:prstGeom prst="roundRect">
            <a:avLst/>
          </a:prstGeom>
          <a:solidFill>
            <a:srgbClr val="FF9F1C"/>
          </a:solidFill>
          <a:ln/>
        </p:spPr>
      </p:sp>
      <p:sp>
        <p:nvSpPr>
          <p:cNvPr id="31" name="Text 29"/>
          <p:cNvSpPr/>
          <p:nvPr/>
        </p:nvSpPr>
        <p:spPr>
          <a:xfrm>
            <a:off x="7397496" y="2651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RULES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97496" y="3154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Compiler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97496" y="3474720"/>
            <a:ext cx="169164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34" name="Text 32"/>
          <p:cNvSpPr/>
          <p:nvPr/>
        </p:nvSpPr>
        <p:spPr>
          <a:xfrm>
            <a:off x="7397496" y="3566160"/>
            <a:ext cx="16916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riding check (&gt;2 rider boxes in vehicle box). No-helmet threshold logic.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72016" y="3840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436608" y="2377440"/>
            <a:ext cx="1965960" cy="3474720"/>
          </a:xfrm>
          <a:prstGeom prst="rect">
            <a:avLst/>
          </a:prstGeom>
          <a:solidFill>
            <a:srgbClr val="0E1626"/>
          </a:solidFill>
          <a:ln w="12700">
            <a:solidFill>
              <a:srgbClr val="05D7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73768" y="2560320"/>
            <a:ext cx="1691640" cy="457200"/>
          </a:xfrm>
          <a:prstGeom prst="roundRect">
            <a:avLst/>
          </a:prstGeom>
          <a:solidFill>
            <a:srgbClr val="05D782"/>
          </a:solidFill>
          <a:ln/>
        </p:spPr>
      </p:sp>
      <p:sp>
        <p:nvSpPr>
          <p:cNvPr id="38" name="Text 36"/>
          <p:cNvSpPr/>
          <p:nvPr/>
        </p:nvSpPr>
        <p:spPr>
          <a:xfrm>
            <a:off x="9573768" y="2651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ENGINE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573768" y="3154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Controller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573768" y="3474720"/>
            <a:ext cx="169164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41" name="Text 39"/>
          <p:cNvSpPr/>
          <p:nvPr/>
        </p:nvSpPr>
        <p:spPr>
          <a:xfrm>
            <a:off x="9573768" y="3566160"/>
            <a:ext cx="16916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violation to MongoDB. Auto-sends challan notice.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LIVE DETECTION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Vision Demo: Helmet Violation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114800" cy="40233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20240"/>
            <a:ext cx="4114800" cy="4572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+ OCR PIPELINE IN ACTION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56032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 Bounding Box: YOLOv8 locates the motorcycle and crops the regional coordinates.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Helmet Status Classifier: Specifically isolates the rider head box to run binary prediction (Helmet/No Helmet).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Automatic Plate Localization: Identifies HSRP plate location and applies OCR perspective warping.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Confidence Rating: The AI engine returns a 94.6% prediction confidence.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1920240"/>
            <a:ext cx="6245352" cy="4023360"/>
          </a:xfrm>
          <a:prstGeom prst="rect">
            <a:avLst/>
          </a:prstGeom>
          <a:solidFill>
            <a:srgbClr val="030811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1828800"/>
            <a:ext cx="27432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828800"/>
            <a:ext cx="45720" cy="2743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65992" y="1828800"/>
            <a:ext cx="27432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594592" y="1828800"/>
            <a:ext cx="45720" cy="2743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5897880"/>
            <a:ext cx="27432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0640" y="5669280"/>
            <a:ext cx="45720" cy="2743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65992" y="5897880"/>
            <a:ext cx="27432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1594592" y="5669280"/>
            <a:ext cx="45720" cy="274320"/>
          </a:xfrm>
          <a:prstGeom prst="rect">
            <a:avLst/>
          </a:prstGeom>
          <a:solidFill>
            <a:srgbClr val="00F0FF"/>
          </a:solidFill>
          <a:ln/>
        </p:spPr>
      </p:sp>
      <p:pic>
        <p:nvPicPr>
          <p:cNvPr id="20" name="Image 0" descr="C:\Users\Acer\Downloads\e88186124ec611f1\dataset\SmartVision_X\docs\assets\helmet_vio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2011680"/>
            <a:ext cx="6062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LIVE WEB INTERFACE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Dashboard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6583680" cy="4023360"/>
          </a:xfrm>
          <a:prstGeom prst="rect">
            <a:avLst/>
          </a:prstGeom>
          <a:solidFill>
            <a:srgbClr val="030811"/>
          </a:solidFill>
          <a:ln w="25400">
            <a:solidFill>
              <a:srgbClr val="2A82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274320" cy="45720"/>
          </a:xfrm>
          <a:prstGeom prst="rect">
            <a:avLst/>
          </a:prstGeom>
          <a:solidFill>
            <a:srgbClr val="2A82E6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828800"/>
            <a:ext cx="45720" cy="274320"/>
          </a:xfrm>
          <a:prstGeom prst="rect">
            <a:avLst/>
          </a:prstGeom>
          <a:solidFill>
            <a:srgbClr val="2A82E6"/>
          </a:solidFill>
          <a:ln/>
        </p:spPr>
      </p:sp>
      <p:sp>
        <p:nvSpPr>
          <p:cNvPr id="10" name="Shape 8"/>
          <p:cNvSpPr/>
          <p:nvPr/>
        </p:nvSpPr>
        <p:spPr>
          <a:xfrm>
            <a:off x="7223760" y="5897880"/>
            <a:ext cx="274320" cy="45720"/>
          </a:xfrm>
          <a:prstGeom prst="rect">
            <a:avLst/>
          </a:prstGeom>
          <a:solidFill>
            <a:srgbClr val="2A82E6"/>
          </a:solidFill>
          <a:ln/>
        </p:spPr>
      </p:sp>
      <p:sp>
        <p:nvSpPr>
          <p:cNvPr id="11" name="Shape 9"/>
          <p:cNvSpPr/>
          <p:nvPr/>
        </p:nvSpPr>
        <p:spPr>
          <a:xfrm>
            <a:off x="7223760" y="5669280"/>
            <a:ext cx="45720" cy="274320"/>
          </a:xfrm>
          <a:prstGeom prst="rect">
            <a:avLst/>
          </a:prstGeom>
          <a:solidFill>
            <a:srgbClr val="2A82E6"/>
          </a:solidFill>
          <a:ln/>
        </p:spPr>
      </p:sp>
      <p:pic>
        <p:nvPicPr>
          <p:cNvPr id="12" name="Image 0" descr="C:\Users\Acer\Downloads\e88186124ec611f1\dataset\SmartVision_X\docs\assets\smartvision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6400800" cy="38404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680960" y="1920240"/>
            <a:ext cx="3776472" cy="40233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80960" y="1920240"/>
            <a:ext cx="3776472" cy="4572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15" name="Text 12"/>
          <p:cNvSpPr/>
          <p:nvPr/>
        </p:nvSpPr>
        <p:spPr>
          <a:xfrm>
            <a:off x="795528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CONTROL ROOM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955280" y="256032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CCTV Grid: Stream switcher simulating camera junctions across Silk Board and Majestic.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Brain Panel: Audio/visual alerts switch with live CPU/GPU tracking.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Violations Center: Instant table rendering with OCR read outs and pdf generation.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Weather Toggles: Simulates clear, rain, or night exposure conditions.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55280" y="4846320"/>
            <a:ext cx="3200400" cy="822960"/>
          </a:xfrm>
          <a:prstGeom prst="roundRect">
            <a:avLst/>
          </a:prstGeom>
          <a:solidFill>
            <a:srgbClr val="0A1E3A"/>
          </a:solidFill>
          <a:ln w="25400">
            <a:solidFill>
              <a:srgbClr val="05D78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0" y="49377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D7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URL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955280" y="5166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smartvision-x-gridlock-c579.vercel.app/command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CORE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E-Challan Generation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5029200" cy="40233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20240"/>
            <a:ext cx="5029200" cy="4572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E-CHALLAN GENERATION ENGINE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Operator Verification: The platform keeps a human in the loop. The control officer reviews the auto-cropped plate frame before confirming.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Fine Calculation: System auto-assigns fine amounts (₹1,000 for helmet violations, ₹2,000 for triple riding).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RTO Vahan Sync: Connects license plates to registered owner mobile data for automated SMS alert simulations.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High-fidelity PDF Receipt: Exports clean legal tickets complete with plate crops, maps, and barcode elements.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75120" y="1920240"/>
            <a:ext cx="475488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21031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BENGALURU TRAFFIC POLICE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9440" y="2331720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E-CHALLAN RECEIPT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949440" y="2606040"/>
            <a:ext cx="4206240" cy="91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0" y="2743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Challan Number: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8680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BTP-9082-2026-X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040880" y="3063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Time: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0" y="3063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20-June-2026 | 10:00 AM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40880" y="33832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Junction Area: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686800" y="3383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 Board Junction (CAM-04)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40880" y="3703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Plate: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686800" y="3703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KA-03-MX-8891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040880" y="4023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Class: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68680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Non-Compliance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40880" y="43434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Amount: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868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1,000.00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01200" y="4754880"/>
            <a:ext cx="1463040" cy="457200"/>
          </a:xfrm>
          <a:prstGeom prst="rect">
            <a:avLst/>
          </a:prstGeom>
          <a:solidFill>
            <a:srgbClr val="E6FBF3"/>
          </a:solidFill>
          <a:ln w="25400">
            <a:solidFill>
              <a:srgbClr val="05D7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0" y="4846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B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&amp; PAID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040880" y="4846320"/>
            <a:ext cx="27432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095744" y="4846320"/>
            <a:ext cx="73152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96328" y="4846320"/>
            <a:ext cx="36576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0336" y="4846320"/>
            <a:ext cx="18288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7306056" y="4846320"/>
            <a:ext cx="82296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7415784" y="4846320"/>
            <a:ext cx="27432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470648" y="4846320"/>
            <a:ext cx="4572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7543800" y="4846320"/>
            <a:ext cx="18288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7589520" y="4846320"/>
            <a:ext cx="73152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690104" y="4846320"/>
            <a:ext cx="36576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7754112" y="4846320"/>
            <a:ext cx="18288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7799832" y="4846320"/>
            <a:ext cx="82296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7909560" y="4846320"/>
            <a:ext cx="27432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7964424" y="4846320"/>
            <a:ext cx="4572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037576" y="4846320"/>
            <a:ext cx="18288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8083296" y="4846320"/>
            <a:ext cx="73152" cy="365760"/>
          </a:xfrm>
          <a:prstGeom prst="rect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DATABASE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Atlas Live Cloud Sync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5029200" cy="40233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20240"/>
            <a:ext cx="5029200" cy="4572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D7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DATA PERSISTENCE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Hybrid Mode: Connects to live MongoDB Atlas Cloud cluster. Automatically falls back to local JSON persistence if internet drops.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Schema Validation: Mongoose models enforce validation rules, timestamp audits, and geospatial coordinates.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Query Optimization: Indexes on vehicle license plates and violation timestamps allow instant search queries.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Accessibility: Command Center dashboard queries sync instantly, giving city inspectors access to active logs.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75120" y="1920240"/>
            <a:ext cx="4754880" cy="4023360"/>
          </a:xfrm>
          <a:prstGeom prst="roundRect">
            <a:avLst/>
          </a:prstGeom>
          <a:solidFill>
            <a:srgbClr val="020712"/>
          </a:solidFill>
          <a:ln w="19050">
            <a:solidFill>
              <a:srgbClr val="05D7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1920240"/>
            <a:ext cx="4754880" cy="365760"/>
          </a:xfrm>
          <a:prstGeom prst="rect">
            <a:avLst/>
          </a:prstGeom>
          <a:solidFill>
            <a:srgbClr val="0B1528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2011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mongoose.model("Violation")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40880" y="24688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40880" y="276148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"_id": ObjectId("66741b21efb34"),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40880" y="305409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"plate_number": "KA03MX8891",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040880" y="334670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"violation_type": "No Helmet",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040880" y="363931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"location": "Silk Board Junction",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040880" y="3931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"confidence": 0.946,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40880" y="422452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"evidence_image": "uploads/ KA03MX.jpg",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040880" y="451713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"challan_amount": 1000,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40880" y="480974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"pending_operator_review",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40880" y="510235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D7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"timestamp": ISODate("2026-06-20T10:00:00Z")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040880" y="53949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F9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Dispatch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5029200" cy="402336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20240"/>
            <a:ext cx="5029200" cy="4572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HAVERSINE NEAREST OFFICER ROUTING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GPS Tracking: Field officers update their live coordinate pairs back to the dashboard.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Haversine Metric: When an operator verifies a critical block or triple-riding event, the backend runs the Haversine formula: 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 = 2R × arcsin( √[ sin²(Δlat/2) + cos(lat1)cos(lat2)sin²(Δlon/2) ] )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Dynamic dispatch: Instantly orders patrol vehicles closest to the target coordinate (e.g. Officer Surjeet located 1.2km away).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Interactive Route Map: Highlights target coordinates on the CommandCenter dispatch console.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75120" y="1920240"/>
            <a:ext cx="4754880" cy="402336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8A5C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2194560"/>
            <a:ext cx="548640" cy="548640"/>
          </a:xfrm>
          <a:prstGeom prst="ellipse">
            <a:avLst/>
          </a:prstGeom>
          <a:solidFill>
            <a:srgbClr val="FF2A5F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22860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80960" y="21945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CRITICAL INCIDENT FLAGGED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680960" y="2423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CAM-04 identifies illegal parking gridlock.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5472" y="2743200"/>
            <a:ext cx="36576" cy="640080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0" y="3383280"/>
            <a:ext cx="548640" cy="548640"/>
          </a:xfrm>
          <a:prstGeom prst="ellipse">
            <a:avLst/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3474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680960" y="33832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PROXIMITY ENGINE COMPUTES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80960" y="36118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filters active patrol coordinate arrays.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05472" y="3931920"/>
            <a:ext cx="36576" cy="640080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22" name="Shape 20"/>
          <p:cNvSpPr/>
          <p:nvPr/>
        </p:nvSpPr>
        <p:spPr>
          <a:xfrm>
            <a:off x="6949440" y="4572000"/>
            <a:ext cx="548640" cy="548640"/>
          </a:xfrm>
          <a:prstGeom prst="ellipse">
            <a:avLst/>
          </a:prstGeom>
          <a:solidFill>
            <a:srgbClr val="05D782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4663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680960" y="45720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CLOSEST CO-ORDINATE ROUTE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0" y="4800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dispatch instructions pushed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10725912" cy="9144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20240"/>
            <a:ext cx="91440" cy="91440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MODULES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20574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React.js, Vite Builder, Tailwind CSS, Lucide Icons, React Router DOM v6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23360" y="237744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Dynamic route-based views, theme controllers, responsive dashboards.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71800"/>
            <a:ext cx="10725912" cy="9144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971800"/>
            <a:ext cx="91440" cy="914400"/>
          </a:xfrm>
          <a:prstGeom prst="rect">
            <a:avLst/>
          </a:prstGeom>
          <a:solidFill>
            <a:srgbClr val="2A82E6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8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SYSTEM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310896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Node.js, Express Framework, Multer File Uploads, REST controllers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23360" y="34290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MVC structure: split models, controllers, and JSON local mock storage fallbacks.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023360"/>
            <a:ext cx="10725912" cy="9144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023360"/>
            <a:ext cx="91440" cy="914400"/>
          </a:xfrm>
          <a:prstGeom prst="rect">
            <a:avLst/>
          </a:prstGeom>
          <a:solidFill>
            <a:srgbClr val="05D782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D7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PERSISTENCE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0" y="41605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MongoDB Atlas, Mongoose ORM, Connection Status Flags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448056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Auto-sync loop triggers collection upserts, online dashboard flag updates.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5074920"/>
            <a:ext cx="10725912" cy="91440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074920"/>
            <a:ext cx="91440" cy="914400"/>
          </a:xfrm>
          <a:prstGeom prst="rect">
            <a:avLst/>
          </a:prstGeom>
          <a:solidFill>
            <a:srgbClr val="8A5CF5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5212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 ENGINE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23360" y="52120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3.13, Flask API, YOLOv8 (Ultralytics), EasyOCR, OpenCV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3360" y="55321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Flask server runs YOLO inference and EasyOCR reader inside isolated venv.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VALUE PROPOSITION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 &amp; ROI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3383280" cy="384048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11680"/>
            <a:ext cx="3383280" cy="13716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2834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Reduced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88720" y="3474720"/>
            <a:ext cx="246888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749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Processing Efficiency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20624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YOLO/OCR identification reduces time-to-issue for challans from 3 days to under 5 seconds.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9120" y="2011680"/>
            <a:ext cx="3383280" cy="384048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9120" y="2011680"/>
            <a:ext cx="3383280" cy="13716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5D7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572000" y="2834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Junction Clearance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474720"/>
            <a:ext cx="246888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749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Congestion Relief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420624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dispatch clears illegal street parking blockers from sidewalk junctions before gridlocks expand.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46720" y="2011680"/>
            <a:ext cx="3383280" cy="384048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2011680"/>
            <a:ext cx="3383280" cy="1371600"/>
          </a:xfrm>
          <a:prstGeom prst="rect">
            <a:avLst/>
          </a:prstGeom>
          <a:solidFill>
            <a:srgbClr val="152035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8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3.5x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8229600" y="2834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Yield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03920" y="3474720"/>
            <a:ext cx="2468880" cy="9144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3749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3.5x Fine Collection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21040" y="420624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human observation leakage. Multiple cameras stream 24/7 without fatigue, checking every vehicle registration.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SMARTVISION X  // 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Roadmap &amp; Milestones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725912" cy="18288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1645920" cy="2743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DEMO: smartvision-x-gridlock-c579.vercel.app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 for scaling SmartVision X across regional state grids: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3840480"/>
            <a:ext cx="10725912" cy="36576"/>
          </a:xfrm>
          <a:prstGeom prst="rect">
            <a:avLst/>
          </a:prstGeom>
          <a:solidFill>
            <a:srgbClr val="1A2C46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3840480"/>
            <a:ext cx="274320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377440"/>
            <a:ext cx="2560320" cy="118872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7889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Hardware 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74520" y="3730752"/>
            <a:ext cx="274320" cy="274320"/>
          </a:xfrm>
          <a:prstGeom prst="ellipse">
            <a:avLst/>
          </a:prstGeom>
          <a:solidFill>
            <a:srgbClr val="070C16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65960" y="3822192"/>
            <a:ext cx="91440" cy="91440"/>
          </a:xfrm>
          <a:prstGeom prst="ellipse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062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YOLOv8-nano onto NVIDIA Jetson Orin Nano modules for physical CCTV cam placement.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377440"/>
            <a:ext cx="2560320" cy="118872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27889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 Vahan Integration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3730752"/>
            <a:ext cx="274320" cy="274320"/>
          </a:xfrm>
          <a:prstGeom prst="ellipse">
            <a:avLst/>
          </a:prstGeom>
          <a:solidFill>
            <a:srgbClr val="070C16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3822192"/>
            <a:ext cx="91440" cy="91440"/>
          </a:xfrm>
          <a:prstGeom prst="ellipse">
            <a:avLst/>
          </a:prstGeom>
          <a:solidFill>
            <a:srgbClr val="00F0FF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42062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direct API handshakes with NIC Vahan/Sarathi databases for real-time owner registry search.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2377440"/>
            <a:ext cx="2560320" cy="118872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2027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27889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Complaint App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69480" y="3730752"/>
            <a:ext cx="274320" cy="274320"/>
          </a:xfrm>
          <a:prstGeom prst="ellipse">
            <a:avLst/>
          </a:prstGeom>
          <a:solidFill>
            <a:srgbClr val="070C16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60920" y="3822192"/>
            <a:ext cx="91440" cy="91440"/>
          </a:xfrm>
          <a:prstGeom prst="ellipse">
            <a:avLst/>
          </a:prstGeom>
          <a:solidFill>
            <a:srgbClr val="00F0FF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42062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crowdsourced reporting app. Citizens upload pictures which run auto YOLO checks.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2377440"/>
            <a:ext cx="2560320" cy="1188720"/>
          </a:xfrm>
          <a:prstGeom prst="rect">
            <a:avLst/>
          </a:prstGeom>
          <a:solidFill>
            <a:srgbClr val="0E1626"/>
          </a:solidFill>
          <a:ln w="12700">
            <a:solidFill>
              <a:srgbClr val="1A2C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61120" y="27889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AI-Predictive Signals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966960" y="3730752"/>
            <a:ext cx="274320" cy="274320"/>
          </a:xfrm>
          <a:prstGeom prst="ellipse">
            <a:avLst/>
          </a:prstGeom>
          <a:solidFill>
            <a:srgbClr val="070C16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0" y="3822192"/>
            <a:ext cx="91440" cy="91440"/>
          </a:xfrm>
          <a:prstGeom prst="ellipse">
            <a:avLst/>
          </a:prstGeom>
          <a:solidFill>
            <a:srgbClr val="00F0FF"/>
          </a:solidFill>
          <a:ln/>
        </p:spPr>
      </p:sp>
      <p:sp>
        <p:nvSpPr>
          <p:cNvPr id="33" name="Text 31"/>
          <p:cNvSpPr/>
          <p:nvPr/>
        </p:nvSpPr>
        <p:spPr>
          <a:xfrm>
            <a:off x="8823960" y="42062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intersection overrides to green corridor routing based on neural traffic forecasts.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Urban Safety Platform — Ready to Scale.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SmartVision X - Pitch Deck</dc:title>
  <dc:subject>PptxGenJS Presentation</dc:subject>
  <dc:creator>Surjeet Yadav</dc:creator>
  <cp:lastModifiedBy>Surjeet Yadav</cp:lastModifiedBy>
  <cp:revision>1</cp:revision>
  <dcterms:created xsi:type="dcterms:W3CDTF">2026-06-20T04:43:44Z</dcterms:created>
  <dcterms:modified xsi:type="dcterms:W3CDTF">2026-06-20T04:43:44Z</dcterms:modified>
</cp:coreProperties>
</file>